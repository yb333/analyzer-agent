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core.xml" ContentType="application/vnd.openxmlformats-officedocument.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1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pic>
        <p:nvPicPr>
          <p:cNvPr id="4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 5"/>
          <p:cNvSpPr txBox="1"/>
          <p:nvPr/>
        </p:nvSpPr>
        <p:spPr>
          <a:xfrm>
            <a:off x="825500" y="3441700"/>
            <a:ext cx="8271570" cy="584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pc="132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数据资产确定性认知底座（数据资产 init）</a:t>
            </a:r>
            <a:endParaRPr/>
          </a:p>
        </p:txBody>
      </p:sp>
      <p:pic>
        <p:nvPicPr>
          <p:cNvPr id="6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4089400"/>
            <a:ext cx="1485900" cy="196850"/>
          </a:xfrm>
          <a:prstGeom prst="rect">
            <a:avLst/>
          </a:prstGeom>
        </p:spPr>
      </p:pic>
      <p:sp>
        <p:nvSpPr>
          <p:cNvPr id="7" name="文字 7"/>
          <p:cNvSpPr txBox="1"/>
          <p:nvPr/>
        </p:nvSpPr>
        <p:spPr>
          <a:xfrm>
            <a:off x="844550" y="4330700"/>
            <a:ext cx="315505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spc="50">
                <a:solidFill>
                  <a:srgbClr val="CFE0F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专利 idea 评审 · 主创新点与三个子专利点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844550" y="4622800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spc="62">
                <a:solidFill>
                  <a:srgbClr val="EAF1F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日期：2026.10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844550" y="4914900"/>
            <a:ext cx="84613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spc="62">
                <a:solidFill>
                  <a:srgbClr val="EAF1F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作者：院博</a:t>
            </a:r>
            <a:endParaRPr/>
          </a:p>
        </p:txBody>
      </p:sp>
      <p:sp>
        <p:nvSpPr>
          <p:cNvPr id="10" name="形状 10"/>
          <p:cNvSpPr/>
          <p:nvPr/>
        </p:nvSpPr>
        <p:spPr>
          <a:xfrm>
            <a:off x="0" y="5664200"/>
            <a:ext cx="12192000" cy="1193800"/>
          </a:xfrm>
          <a:prstGeom prst="rect">
            <a:avLst/>
          </a:prstGeom>
          <a:solidFill>
            <a:srgbClr val="E9EDF3">
              <a:alpha val="100000"/>
            </a:srgbClr>
          </a:solidFill>
          <a:ln>
            <a:noFill/>
          </a:ln>
        </p:spPr>
      </p:sp>
      <p:pic>
        <p:nvPicPr>
          <p:cNvPr id="11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378" y="6143625"/>
            <a:ext cx="834033" cy="234950"/>
          </a:xfrm>
          <a:prstGeom prst="rect">
            <a:avLst/>
          </a:prstGeom>
        </p:spPr>
      </p:pic>
      <p:sp>
        <p:nvSpPr>
          <p:cNvPr id="12" name="形状 12"/>
          <p:cNvSpPr/>
          <p:nvPr/>
        </p:nvSpPr>
        <p:spPr>
          <a:xfrm>
            <a:off x="11174611" y="6172200"/>
            <a:ext cx="6350" cy="177800"/>
          </a:xfrm>
          <a:prstGeom prst="rect">
            <a:avLst/>
          </a:prstGeom>
          <a:solidFill>
            <a:srgbClr val="C3CDD9">
              <a:alpha val="100000"/>
            </a:srgbClr>
          </a:solidFill>
          <a:ln>
            <a:noFill/>
          </a:ln>
        </p:spPr>
      </p:sp>
      <p:pic>
        <p:nvPicPr>
          <p:cNvPr id="13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7161" y="6159500"/>
            <a:ext cx="249039" cy="20320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11582400" y="6169025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100">
                <a:solidFill>
                  <a:srgbClr val="141C2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云山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2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49250"/>
            <a:ext cx="74433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CONTENTS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27050"/>
            <a:ext cx="596900" cy="412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目录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571500" y="1845270"/>
            <a:ext cx="11049000" cy="692150"/>
          </a:xfrm>
          <a:prstGeom prst="roundRect">
            <a:avLst>
              <a:gd name="adj" fmla="val 1284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7" name="文字 7"/>
          <p:cNvSpPr txBox="1"/>
          <p:nvPr/>
        </p:nvSpPr>
        <p:spPr>
          <a:xfrm>
            <a:off x="768350" y="2013545"/>
            <a:ext cx="332879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01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1266329" y="1991320"/>
            <a:ext cx="318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背景叙事：存量资产认知断层与现有技术缺口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1266329" y="2251670"/>
            <a:ext cx="23177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交付流程断在哪里 · 四类现有技术为什么不够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1012091" y="2118320"/>
            <a:ext cx="42425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94A3B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P03–04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571500" y="2626320"/>
            <a:ext cx="11049000" cy="692150"/>
          </a:xfrm>
          <a:prstGeom prst="roundRect">
            <a:avLst>
              <a:gd name="adj" fmla="val 1284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2" name="文字 12"/>
          <p:cNvSpPr txBox="1"/>
          <p:nvPr/>
        </p:nvSpPr>
        <p:spPr>
          <a:xfrm>
            <a:off x="768350" y="2794595"/>
            <a:ext cx="332879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02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1266329" y="2772370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技术方案：项目架构与端到端逻辑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1266329" y="3032720"/>
            <a:ext cx="2812852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三层总体架构 · 端到端流程 · 两大核心机制 · 运行现状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1012091" y="2899370"/>
            <a:ext cx="42425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94A3B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P05–08</a:t>
            </a:r>
            <a:endParaRPr/>
          </a:p>
        </p:txBody>
      </p:sp>
      <p:sp>
        <p:nvSpPr>
          <p:cNvPr id="16" name="形状 16"/>
          <p:cNvSpPr/>
          <p:nvPr/>
        </p:nvSpPr>
        <p:spPr>
          <a:xfrm>
            <a:off x="571500" y="3407370"/>
            <a:ext cx="11049000" cy="692150"/>
          </a:xfrm>
          <a:prstGeom prst="roundRect">
            <a:avLst>
              <a:gd name="adj" fmla="val 1284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7" name="文字 17"/>
          <p:cNvSpPr txBox="1"/>
          <p:nvPr/>
        </p:nvSpPr>
        <p:spPr>
          <a:xfrm>
            <a:off x="768350" y="3575645"/>
            <a:ext cx="332879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03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266329" y="355342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实现效果：实测数字与对照实验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1266329" y="3813770"/>
            <a:ext cx="2656384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0.4 秒全流程 · 分拣与拦截实测 · 同一变更两种判定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11217870" y="3680420"/>
            <a:ext cx="21848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94A3B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P09</a:t>
            </a:r>
            <a:endParaRPr/>
          </a:p>
        </p:txBody>
      </p:sp>
      <p:sp>
        <p:nvSpPr>
          <p:cNvPr id="21" name="形状 21"/>
          <p:cNvSpPr/>
          <p:nvPr/>
        </p:nvSpPr>
        <p:spPr>
          <a:xfrm>
            <a:off x="571500" y="4188420"/>
            <a:ext cx="11049000" cy="692150"/>
          </a:xfrm>
          <a:prstGeom prst="roundRect">
            <a:avLst>
              <a:gd name="adj" fmla="val 1284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2" name="文字 22"/>
          <p:cNvSpPr txBox="1"/>
          <p:nvPr/>
        </p:nvSpPr>
        <p:spPr>
          <a:xfrm>
            <a:off x="768350" y="4356695"/>
            <a:ext cx="332879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04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1266329" y="4334470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创新点：一项核心创新与三个子创新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266329" y="4594820"/>
            <a:ext cx="1992908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1–4 · 各自主张与现有技术区别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1217870" y="4461470"/>
            <a:ext cx="21848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94A3B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P10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571500" y="4969470"/>
            <a:ext cx="11049000" cy="692150"/>
          </a:xfrm>
          <a:prstGeom prst="roundRect">
            <a:avLst>
              <a:gd name="adj" fmla="val 1284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7" name="文字 27"/>
          <p:cNvSpPr txBox="1"/>
          <p:nvPr/>
        </p:nvSpPr>
        <p:spPr>
          <a:xfrm>
            <a:off x="768350" y="5137745"/>
            <a:ext cx="332879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05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1266329" y="5115520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保护点：三件专利申请布局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1266329" y="5375870"/>
            <a:ext cx="2504182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一个整体方案 · 三件申请 · 对应创新点 2 / 3 / 4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1217870" y="5242520"/>
            <a:ext cx="21848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94A3B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P11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2 /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3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02465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1.1 · 背景 / BACKGROUND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50419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数据交付智能化，卡在存量资产认知断层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638060" y="1485564"/>
            <a:ext cx="1863687" cy="1163324"/>
          </a:xfrm>
          <a:prstGeom prst="roundRect">
            <a:avLst>
              <a:gd name="adj" fmla="val 8010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7" name="文字 7"/>
          <p:cNvSpPr txBox="1"/>
          <p:nvPr/>
        </p:nvSpPr>
        <p:spPr>
          <a:xfrm>
            <a:off x="1383535" y="1966890"/>
            <a:ext cx="385437" cy="27483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3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需求</a:t>
            </a:r>
            <a:endParaRPr/>
          </a:p>
        </p:txBody>
      </p:sp>
      <p:cxnSp>
        <p:nvCxnSpPr>
          <p:cNvPr id="8" name="直线 8"/>
          <p:cNvCxnSpPr/>
          <p:nvPr/>
        </p:nvCxnSpPr>
        <p:spPr>
          <a:xfrm>
            <a:off x="2501747" y="2067227"/>
            <a:ext cx="252929" cy="0"/>
          </a:xfrm>
          <a:prstGeom prst="line">
            <a:avLst/>
          </a:prstGeom>
          <a:ln w="16640">
            <a:solidFill>
              <a:srgbClr val="64748B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9" name="形状 9"/>
          <p:cNvSpPr/>
          <p:nvPr/>
        </p:nvSpPr>
        <p:spPr>
          <a:xfrm>
            <a:off x="2794612" y="1485564"/>
            <a:ext cx="2795530" cy="1163324"/>
          </a:xfrm>
          <a:prstGeom prst="roundRect">
            <a:avLst>
              <a:gd name="adj" fmla="val 8010"/>
            </a:avLst>
          </a:prstGeom>
          <a:solidFill>
            <a:srgbClr val="1D4ED8">
              <a:alpha val="100000"/>
            </a:srgbClr>
          </a:solidFill>
          <a:ln>
            <a:noFill/>
          </a:ln>
        </p:spPr>
      </p:sp>
      <p:sp>
        <p:nvSpPr>
          <p:cNvPr id="10" name="文字 10"/>
          <p:cNvSpPr txBox="1"/>
          <p:nvPr/>
        </p:nvSpPr>
        <p:spPr>
          <a:xfrm>
            <a:off x="3327094" y="1819293"/>
            <a:ext cx="1743266" cy="255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89" b="1" i="0" u="non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设计开发（已智能化）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3293934" y="2174107"/>
            <a:ext cx="1809586" cy="1766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1" b="0" i="0" u="none">
                <a:solidFill>
                  <a:srgbClr val="C7D7F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粗设计 → 细设计 → 编码 → 测试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3644720" y="2390049"/>
            <a:ext cx="1108015" cy="15704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6" b="0" i="0" u="none">
                <a:solidFill>
                  <a:srgbClr val="9DB8E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内部 agent 已连续跑通</a:t>
            </a:r>
            <a:endParaRPr/>
          </a:p>
        </p:txBody>
      </p:sp>
      <p:cxnSp>
        <p:nvCxnSpPr>
          <p:cNvPr id="13" name="直线 13"/>
          <p:cNvCxnSpPr/>
          <p:nvPr/>
        </p:nvCxnSpPr>
        <p:spPr>
          <a:xfrm>
            <a:off x="5590142" y="2067227"/>
            <a:ext cx="252929" cy="0"/>
          </a:xfrm>
          <a:prstGeom prst="line">
            <a:avLst/>
          </a:prstGeom>
          <a:ln w="16640">
            <a:solidFill>
              <a:srgbClr val="64748B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4" name="形状 14"/>
          <p:cNvSpPr/>
          <p:nvPr/>
        </p:nvSpPr>
        <p:spPr>
          <a:xfrm>
            <a:off x="5883007" y="1485564"/>
            <a:ext cx="1863687" cy="1163324"/>
          </a:xfrm>
          <a:prstGeom prst="roundRect">
            <a:avLst>
              <a:gd name="adj" fmla="val 8010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15" name="文字 15"/>
          <p:cNvSpPr txBox="1"/>
          <p:nvPr/>
        </p:nvSpPr>
        <p:spPr>
          <a:xfrm>
            <a:off x="6628482" y="1966890"/>
            <a:ext cx="385437" cy="27483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3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测试</a:t>
            </a:r>
            <a:endParaRPr/>
          </a:p>
        </p:txBody>
      </p:sp>
      <p:cxnSp>
        <p:nvCxnSpPr>
          <p:cNvPr id="16" name="直线 16"/>
          <p:cNvCxnSpPr/>
          <p:nvPr/>
        </p:nvCxnSpPr>
        <p:spPr>
          <a:xfrm>
            <a:off x="7746694" y="2067227"/>
            <a:ext cx="252929" cy="0"/>
          </a:xfrm>
          <a:prstGeom prst="line">
            <a:avLst/>
          </a:prstGeom>
          <a:ln w="16640">
            <a:solidFill>
              <a:srgbClr val="64748B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7" name="形状 17"/>
          <p:cNvSpPr/>
          <p:nvPr/>
        </p:nvSpPr>
        <p:spPr>
          <a:xfrm>
            <a:off x="8039559" y="1485564"/>
            <a:ext cx="1863687" cy="1163324"/>
          </a:xfrm>
          <a:prstGeom prst="roundRect">
            <a:avLst>
              <a:gd name="adj" fmla="val 8010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18" name="文字 18"/>
          <p:cNvSpPr txBox="1"/>
          <p:nvPr/>
        </p:nvSpPr>
        <p:spPr>
          <a:xfrm>
            <a:off x="8490012" y="1966890"/>
            <a:ext cx="975480" cy="27483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3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部署 / 运维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10089614" y="1485564"/>
            <a:ext cx="1464325" cy="4028010"/>
          </a:xfrm>
          <a:prstGeom prst="roundRect">
            <a:avLst>
              <a:gd name="adj" fmla="val 6364"/>
            </a:avLst>
          </a:prstGeom>
          <a:solidFill>
            <a:srgbClr val="EFF6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20" name="文字 20"/>
          <p:cNvSpPr txBox="1"/>
          <p:nvPr/>
        </p:nvSpPr>
        <p:spPr>
          <a:xfrm>
            <a:off x="10528912" y="1785848"/>
            <a:ext cx="598430" cy="2159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6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定位类比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10369167" y="2223912"/>
            <a:ext cx="917919" cy="16686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73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代码项目初始化后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10526053" y="2442035"/>
            <a:ext cx="604148" cy="16686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73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AI 开箱即用</a:t>
            </a:r>
            <a:endParaRPr/>
          </a:p>
        </p:txBody>
      </p:sp>
      <p:cxnSp>
        <p:nvCxnSpPr>
          <p:cNvPr id="23" name="直线 23"/>
          <p:cNvCxnSpPr/>
          <p:nvPr/>
        </p:nvCxnSpPr>
        <p:spPr>
          <a:xfrm>
            <a:off x="10329231" y="2794304"/>
            <a:ext cx="985092" cy="0"/>
          </a:xfrm>
          <a:prstGeom prst="line">
            <a:avLst/>
          </a:prstGeom>
          <a:ln w="13312">
            <a:solidFill>
              <a:srgbClr val="BFDBFE">
                <a:alpha val="100000"/>
              </a:srgbClr>
            </a:solidFill>
            <a:prstDash val="solid"/>
          </a:ln>
        </p:spPr>
      </p:cxnSp>
      <p:sp>
        <p:nvSpPr>
          <p:cNvPr id="24" name="文字 24"/>
          <p:cNvSpPr txBox="1"/>
          <p:nvPr/>
        </p:nvSpPr>
        <p:spPr>
          <a:xfrm>
            <a:off x="10595472" y="3052780"/>
            <a:ext cx="465310" cy="16686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73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数据资产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0538896" y="3270904"/>
            <a:ext cx="578462" cy="16686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73" b="0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没有等价物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10462352" y="3919093"/>
            <a:ext cx="731551" cy="1766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1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本项目定位：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10522256" y="4180841"/>
            <a:ext cx="611742" cy="1766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1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数据资产的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10402448" y="4442589"/>
            <a:ext cx="851359" cy="1766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1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确定性认知底座</a:t>
            </a:r>
            <a:endParaRPr/>
          </a:p>
        </p:txBody>
      </p:sp>
      <p:cxnSp>
        <p:nvCxnSpPr>
          <p:cNvPr id="29" name="直线 29"/>
          <p:cNvCxnSpPr/>
          <p:nvPr/>
        </p:nvCxnSpPr>
        <p:spPr>
          <a:xfrm>
            <a:off x="4192377" y="2648889"/>
            <a:ext cx="0" cy="697995"/>
          </a:xfrm>
          <a:prstGeom prst="line">
            <a:avLst/>
          </a:prstGeom>
          <a:ln w="19968">
            <a:solidFill>
              <a:srgbClr val="DC2626">
                <a:alpha val="100000"/>
              </a:srgbClr>
            </a:solidFill>
            <a:prstDash val="dash"/>
            <a:tailEnd type="triangle" w="med" len="med"/>
          </a:ln>
        </p:spPr>
      </p:cxnSp>
      <p:sp>
        <p:nvSpPr>
          <p:cNvPr id="30" name="形状 30"/>
          <p:cNvSpPr/>
          <p:nvPr/>
        </p:nvSpPr>
        <p:spPr>
          <a:xfrm>
            <a:off x="2794612" y="3405049"/>
            <a:ext cx="7108634" cy="2108525"/>
          </a:xfrm>
          <a:prstGeom prst="roundRect">
            <a:avLst>
              <a:gd name="adj" fmla="val 4419"/>
            </a:avLst>
          </a:prstGeom>
          <a:solidFill>
            <a:srgbClr val="FEF2F2">
              <a:alpha val="100000"/>
            </a:srgbClr>
          </a:solidFill>
          <a:ln w="13312">
            <a:solidFill>
              <a:srgbClr val="DC2626">
                <a:alpha val="100000"/>
              </a:srgbClr>
            </a:solidFill>
            <a:prstDash val="dash"/>
          </a:ln>
        </p:spPr>
      </p:sp>
      <p:sp>
        <p:nvSpPr>
          <p:cNvPr id="31" name="文字 31"/>
          <p:cNvSpPr txBox="1"/>
          <p:nvPr/>
        </p:nvSpPr>
        <p:spPr>
          <a:xfrm>
            <a:off x="4524946" y="3786765"/>
            <a:ext cx="3660667" cy="29446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18" b="1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断层：AI 面对存量资产，没有可读的材料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3078798" y="4316078"/>
            <a:ext cx="6552962" cy="2159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60" b="0" i="0" u="none">
                <a:solidFill>
                  <a:srgbClr val="7F1D1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加工逻辑锁在五类非代码制品中：执行平台制品包 / 代码仓规则 / 表结构定义 / 质量规则 / 调度任务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822077" y="4694158"/>
            <a:ext cx="3066404" cy="2159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60" b="0" i="0" u="none">
                <a:solidFill>
                  <a:srgbClr val="7F1D1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每个针对存量资产的任务，都要先人工"喂现状"</a:t>
            </a:r>
            <a:endParaRPr/>
          </a:p>
        </p:txBody>
      </p:sp>
      <p:sp>
        <p:nvSpPr>
          <p:cNvPr id="34" name="形状 34"/>
          <p:cNvSpPr/>
          <p:nvPr/>
        </p:nvSpPr>
        <p:spPr>
          <a:xfrm>
            <a:off x="638060" y="5746239"/>
            <a:ext cx="9265186" cy="610745"/>
          </a:xfrm>
          <a:prstGeom prst="roundRect">
            <a:avLst>
              <a:gd name="adj" fmla="val 13078"/>
            </a:avLst>
          </a:prstGeom>
          <a:solidFill>
            <a:srgbClr val="F8FAFC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5" name="文字 35"/>
          <p:cNvSpPr txBox="1"/>
          <p:nvPr/>
        </p:nvSpPr>
        <p:spPr>
          <a:xfrm>
            <a:off x="837741" y="5979995"/>
            <a:ext cx="5583353" cy="20612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2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后果：理解成本高、不可复用——每次优化、每次影响评估，都从"重新读懂这个资产"开始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3 /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4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20751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1.2 · 现有技术 / PRIOR ART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56007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四类现有技术，缺口指向同一处：判定与信任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571500" y="976610"/>
            <a:ext cx="5480050" cy="2134195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7" name="文字 7"/>
          <p:cNvSpPr txBox="1"/>
          <p:nvPr/>
        </p:nvSpPr>
        <p:spPr>
          <a:xfrm>
            <a:off x="717550" y="1526183"/>
            <a:ext cx="1231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血缘平台影响分析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717550" y="178653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定位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717550" y="1977033"/>
            <a:ext cx="1917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依赖图遍历，列举下游受影响对象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717550" y="220563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缺口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717550" y="2396133"/>
            <a:ext cx="2425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只找不判——类型语义、严重度、原因全缺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6140450" y="976610"/>
            <a:ext cx="5480050" cy="2134195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3" name="文字 13"/>
          <p:cNvSpPr txBox="1"/>
          <p:nvPr/>
        </p:nvSpPr>
        <p:spPr>
          <a:xfrm>
            <a:off x="6286500" y="1526183"/>
            <a:ext cx="21463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海外元数据平台的智能体上下文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286500" y="178653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定位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6286500" y="1977033"/>
            <a:ext cx="2213868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元数据浅层派生：表结构 / 血缘 / 标签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6286500" y="220563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缺口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286500" y="2396133"/>
            <a:ext cx="2044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无供给纪律、无建档治理，即用即弃</a:t>
            </a:r>
            <a:endParaRPr/>
          </a:p>
        </p:txBody>
      </p:sp>
      <p:sp>
        <p:nvSpPr>
          <p:cNvPr id="18" name="形状 18"/>
          <p:cNvSpPr/>
          <p:nvPr/>
        </p:nvSpPr>
        <p:spPr>
          <a:xfrm>
            <a:off x="571500" y="3199705"/>
            <a:ext cx="5480050" cy="2134295"/>
          </a:xfrm>
          <a:prstGeom prst="roundRect">
            <a:avLst>
              <a:gd name="adj" fmla="val 416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9" name="文字 19"/>
          <p:cNvSpPr txBox="1"/>
          <p:nvPr/>
        </p:nvSpPr>
        <p:spPr>
          <a:xfrm>
            <a:off x="717550" y="3749278"/>
            <a:ext cx="1231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开源血缘解析工具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717550" y="4009628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定位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717550" y="4200128"/>
            <a:ext cx="1282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从脚本生成字段级血缘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717550" y="4428728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缺口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717550" y="4619228"/>
            <a:ext cx="2044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止步生成，不涉变更判定与场景消费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6140450" y="3199705"/>
            <a:ext cx="5480050" cy="2134295"/>
          </a:xfrm>
          <a:prstGeom prst="roundRect">
            <a:avLst>
              <a:gd name="adj" fmla="val 416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5" name="文字 25"/>
          <p:cNvSpPr txBox="1"/>
          <p:nvPr/>
        </p:nvSpPr>
        <p:spPr>
          <a:xfrm>
            <a:off x="6286500" y="3749278"/>
            <a:ext cx="2171601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交付流水线签名验证 / 分层晋级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6286500" y="4009628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定位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6286500" y="4200128"/>
            <a:ext cx="1790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产物来源验证；数据值分级晋级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6286500" y="4428728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缺口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6286500" y="4619228"/>
            <a:ext cx="3314700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验签名不验内容；晋级的只是数据值，不是表结构这类事实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638060" y="5500052"/>
            <a:ext cx="2388901" cy="1800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业界为什么做不到——四个结构性原因</a:t>
            </a:r>
            <a:endParaRPr/>
          </a:p>
        </p:txBody>
      </p:sp>
      <p:sp>
        <p:nvSpPr>
          <p:cNvPr id="31" name="形状 31"/>
          <p:cNvSpPr/>
          <p:nvPr/>
        </p:nvSpPr>
        <p:spPr>
          <a:xfrm>
            <a:off x="638060" y="5727700"/>
            <a:ext cx="2635786" cy="444500"/>
          </a:xfrm>
          <a:prstGeom prst="roundRect">
            <a:avLst>
              <a:gd name="adj" fmla="val 1497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2" name="文字 32"/>
          <p:cNvSpPr txBox="1"/>
          <p:nvPr/>
        </p:nvSpPr>
        <p:spPr>
          <a:xfrm>
            <a:off x="1145046" y="5902642"/>
            <a:ext cx="1634513" cy="1457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① 依赖图只有边，无表达式语义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3420278" y="5727700"/>
            <a:ext cx="2635786" cy="444500"/>
          </a:xfrm>
          <a:prstGeom prst="roundRect">
            <a:avLst>
              <a:gd name="adj" fmla="val 1497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4" name="文字 34"/>
          <p:cNvSpPr txBox="1"/>
          <p:nvPr/>
        </p:nvSpPr>
        <p:spPr>
          <a:xfrm>
            <a:off x="3927264" y="5902642"/>
            <a:ext cx="1634513" cy="1457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② 多方言包袱，类型深判不敢做</a:t>
            </a:r>
            <a:endParaRPr/>
          </a:p>
        </p:txBody>
      </p:sp>
      <p:sp>
        <p:nvSpPr>
          <p:cNvPr id="35" name="形状 35"/>
          <p:cNvSpPr/>
          <p:nvPr/>
        </p:nvSpPr>
        <p:spPr>
          <a:xfrm>
            <a:off x="6202496" y="5727700"/>
            <a:ext cx="2635786" cy="444500"/>
          </a:xfrm>
          <a:prstGeom prst="roundRect">
            <a:avLst>
              <a:gd name="adj" fmla="val 1497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6" name="文字 36"/>
          <p:cNvSpPr txBox="1"/>
          <p:nvPr/>
        </p:nvSpPr>
        <p:spPr>
          <a:xfrm>
            <a:off x="6426601" y="5902642"/>
            <a:ext cx="2200276" cy="1457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③ 平台接入源五花八门，制品格式无法穷举</a:t>
            </a:r>
            <a:endParaRPr/>
          </a:p>
        </p:txBody>
      </p:sp>
      <p:sp>
        <p:nvSpPr>
          <p:cNvPr id="37" name="形状 37"/>
          <p:cNvSpPr/>
          <p:nvPr/>
        </p:nvSpPr>
        <p:spPr>
          <a:xfrm>
            <a:off x="8984714" y="5727700"/>
            <a:ext cx="2569225" cy="444500"/>
          </a:xfrm>
          <a:prstGeom prst="roundRect">
            <a:avLst>
              <a:gd name="adj" fmla="val 1497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8" name="文字 38"/>
          <p:cNvSpPr txBox="1"/>
          <p:nvPr/>
        </p:nvSpPr>
        <p:spPr>
          <a:xfrm>
            <a:off x="9514997" y="5902642"/>
            <a:ext cx="1521361" cy="1457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④ 只管供材料，不管材料可信</a:t>
            </a:r>
            <a:endParaRPr/>
          </a:p>
        </p:txBody>
      </p:sp>
      <p:sp>
        <p:nvSpPr>
          <p:cNvPr id="39" name="形状 39"/>
          <p:cNvSpPr/>
          <p:nvPr/>
        </p:nvSpPr>
        <p:spPr>
          <a:xfrm>
            <a:off x="638060" y="6261100"/>
            <a:ext cx="10915880" cy="241300"/>
          </a:xfrm>
          <a:prstGeom prst="roundRect">
            <a:avLst>
              <a:gd name="adj" fmla="val 22067"/>
            </a:avLst>
          </a:prstGeom>
          <a:solidFill>
            <a:srgbClr val="EFF6FF">
              <a:alpha val="100000"/>
            </a:srgbClr>
          </a:solidFill>
          <a:ln>
            <a:noFill/>
          </a:ln>
        </p:spPr>
      </p:sp>
      <p:sp>
        <p:nvSpPr>
          <p:cNvPr id="40" name="文字 40"/>
          <p:cNvSpPr txBox="1"/>
          <p:nvPr/>
        </p:nvSpPr>
        <p:spPr>
          <a:xfrm>
            <a:off x="4358778" y="6329045"/>
            <a:ext cx="3487145" cy="1543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四个原因指向同一结论：缺的是判定层与信任层，不是更好的列举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4 /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5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75619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2.1 · 项目总体架构 / ARCHITECTURE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6718102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三层架构：数据层 → 理解引擎（单一真相）→ 任务层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851053" y="1209533"/>
            <a:ext cx="4030369" cy="2077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1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任务层 · 多场景消费（每个任务 = 理解结果的一种消费方式）</a:t>
            </a:r>
            <a:endParaRPr/>
          </a:p>
        </p:txBody>
      </p:sp>
      <p:sp>
        <p:nvSpPr>
          <p:cNvPr id="7" name="形状 7"/>
          <p:cNvSpPr/>
          <p:nvPr/>
        </p:nvSpPr>
        <p:spPr>
          <a:xfrm>
            <a:off x="837741" y="1466237"/>
            <a:ext cx="1996807" cy="965265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8" name="文字 8"/>
          <p:cNvSpPr txBox="1"/>
          <p:nvPr/>
        </p:nvSpPr>
        <p:spPr>
          <a:xfrm>
            <a:off x="1503343" y="1683072"/>
            <a:ext cx="678302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资产文档化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1428496" y="1950618"/>
            <a:ext cx="827996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字段映射 · 说明书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536623" y="2132479"/>
            <a:ext cx="61174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技术设计文档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3007605" y="1466237"/>
            <a:ext cx="1996807" cy="965265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12" name="文字 12"/>
          <p:cNvSpPr txBox="1"/>
          <p:nvPr/>
        </p:nvSpPr>
        <p:spPr>
          <a:xfrm>
            <a:off x="3606647" y="1683072"/>
            <a:ext cx="811423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字段使用检索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3606647" y="1950618"/>
            <a:ext cx="811423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跨表字段用途定位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3806328" y="2132479"/>
            <a:ext cx="412061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输出清单</a:t>
            </a:r>
            <a:endParaRPr/>
          </a:p>
        </p:txBody>
      </p:sp>
      <p:sp>
        <p:nvSpPr>
          <p:cNvPr id="15" name="形状 15"/>
          <p:cNvSpPr/>
          <p:nvPr/>
        </p:nvSpPr>
        <p:spPr>
          <a:xfrm>
            <a:off x="5177469" y="1466237"/>
            <a:ext cx="1996807" cy="965265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6640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16" name="文字 16"/>
          <p:cNvSpPr txBox="1"/>
          <p:nvPr/>
        </p:nvSpPr>
        <p:spPr>
          <a:xfrm>
            <a:off x="5776511" y="1683072"/>
            <a:ext cx="811423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变更影响分析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5876351" y="1950618"/>
            <a:ext cx="61174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三态影响清单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5826431" y="2132479"/>
            <a:ext cx="711583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本评审核心场景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7347333" y="1466237"/>
            <a:ext cx="1996807" cy="965265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20" name="文字 20"/>
          <p:cNvSpPr txBox="1"/>
          <p:nvPr/>
        </p:nvSpPr>
        <p:spPr>
          <a:xfrm>
            <a:off x="8012935" y="1683072"/>
            <a:ext cx="678302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事实包导出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7696774" y="1950618"/>
            <a:ext cx="1310625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导出机器可读的资产认知文件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8096135" y="2132479"/>
            <a:ext cx="51190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跨仓已对接</a:t>
            </a:r>
            <a:endParaRPr/>
          </a:p>
        </p:txBody>
      </p:sp>
      <p:sp>
        <p:nvSpPr>
          <p:cNvPr id="23" name="形状 23"/>
          <p:cNvSpPr/>
          <p:nvPr/>
        </p:nvSpPr>
        <p:spPr>
          <a:xfrm>
            <a:off x="9517196" y="1466237"/>
            <a:ext cx="1863687" cy="965265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24" name="文字 24"/>
          <p:cNvSpPr txBox="1"/>
          <p:nvPr/>
        </p:nvSpPr>
        <p:spPr>
          <a:xfrm>
            <a:off x="9983118" y="1683072"/>
            <a:ext cx="944543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批量与链路分析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0199439" y="1950618"/>
            <a:ext cx="51190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多资产编排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10149519" y="2132479"/>
            <a:ext cx="61174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多规则组追溯</a:t>
            </a:r>
            <a:endParaRPr/>
          </a:p>
        </p:txBody>
      </p:sp>
      <p:cxnSp>
        <p:nvCxnSpPr>
          <p:cNvPr id="27" name="直线 27"/>
          <p:cNvCxnSpPr/>
          <p:nvPr/>
        </p:nvCxnSpPr>
        <p:spPr>
          <a:xfrm flipV="1">
            <a:off x="3367030" y="2739267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28" name="直线 28"/>
          <p:cNvCxnSpPr/>
          <p:nvPr/>
        </p:nvCxnSpPr>
        <p:spPr>
          <a:xfrm flipV="1">
            <a:off x="6175872" y="2739267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29" name="直线 29"/>
          <p:cNvCxnSpPr/>
          <p:nvPr/>
        </p:nvCxnSpPr>
        <p:spPr>
          <a:xfrm flipV="1">
            <a:off x="8958090" y="2739267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30" name="文字 30"/>
          <p:cNvSpPr txBox="1"/>
          <p:nvPr/>
        </p:nvSpPr>
        <p:spPr>
          <a:xfrm>
            <a:off x="851053" y="3168040"/>
            <a:ext cx="4307859" cy="2077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1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理解引擎层 · 单一真相（全部场景共用同一份解析结果 · 确定性）</a:t>
            </a:r>
            <a:endParaRPr/>
          </a:p>
        </p:txBody>
      </p:sp>
      <p:sp>
        <p:nvSpPr>
          <p:cNvPr id="31" name="形状 31"/>
          <p:cNvSpPr/>
          <p:nvPr/>
        </p:nvSpPr>
        <p:spPr>
          <a:xfrm>
            <a:off x="837741" y="3438734"/>
            <a:ext cx="2569225" cy="1063190"/>
          </a:xfrm>
          <a:prstGeom prst="roundRect">
            <a:avLst>
              <a:gd name="adj" fmla="val 6260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32" name="文字 32"/>
          <p:cNvSpPr txBox="1"/>
          <p:nvPr/>
        </p:nvSpPr>
        <p:spPr>
          <a:xfrm>
            <a:off x="1390191" y="3641580"/>
            <a:ext cx="1477025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加工逻辑解析与字段血缘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1515025" y="3909126"/>
            <a:ext cx="1227358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多层嵌套穿透 · 关联键追溯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1673072" y="4090987"/>
            <a:ext cx="911263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表达式原文逐字保真</a:t>
            </a:r>
            <a:endParaRPr/>
          </a:p>
        </p:txBody>
      </p:sp>
      <p:sp>
        <p:nvSpPr>
          <p:cNvPr id="35" name="形状 35"/>
          <p:cNvSpPr/>
          <p:nvPr/>
        </p:nvSpPr>
        <p:spPr>
          <a:xfrm>
            <a:off x="3580023" y="3438734"/>
            <a:ext cx="2569225" cy="1063190"/>
          </a:xfrm>
          <a:prstGeom prst="roundRect">
            <a:avLst>
              <a:gd name="adj" fmla="val 6260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36" name="文字 36"/>
          <p:cNvSpPr txBox="1"/>
          <p:nvPr/>
        </p:nvSpPr>
        <p:spPr>
          <a:xfrm>
            <a:off x="4531834" y="3641580"/>
            <a:ext cx="678302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表结构画像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4615035" y="3909126"/>
            <a:ext cx="51190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表定义解析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515194" y="4090987"/>
            <a:ext cx="711583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完整字段与类型</a:t>
            </a:r>
            <a:endParaRPr/>
          </a:p>
        </p:txBody>
      </p:sp>
      <p:sp>
        <p:nvSpPr>
          <p:cNvPr id="39" name="形状 39"/>
          <p:cNvSpPr/>
          <p:nvPr/>
        </p:nvSpPr>
        <p:spPr>
          <a:xfrm>
            <a:off x="6322305" y="3438734"/>
            <a:ext cx="2569225" cy="1063190"/>
          </a:xfrm>
          <a:prstGeom prst="roundRect">
            <a:avLst>
              <a:gd name="adj" fmla="val 6260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40" name="文字 40"/>
          <p:cNvSpPr txBox="1"/>
          <p:nvPr/>
        </p:nvSpPr>
        <p:spPr>
          <a:xfrm>
            <a:off x="7340677" y="3641580"/>
            <a:ext cx="545182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交付自检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7307396" y="3909126"/>
            <a:ext cx="61174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结构矛盾分级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6891462" y="4090987"/>
            <a:ext cx="1443612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自检结论：通过 / 带噪音 / 待审</a:t>
            </a:r>
            <a:endParaRPr/>
          </a:p>
        </p:txBody>
      </p:sp>
      <p:sp>
        <p:nvSpPr>
          <p:cNvPr id="43" name="形状 43"/>
          <p:cNvSpPr/>
          <p:nvPr/>
        </p:nvSpPr>
        <p:spPr>
          <a:xfrm>
            <a:off x="9064587" y="3438734"/>
            <a:ext cx="2342920" cy="1063190"/>
          </a:xfrm>
          <a:prstGeom prst="roundRect">
            <a:avLst>
              <a:gd name="adj" fmla="val 6260"/>
            </a:avLst>
          </a:prstGeom>
          <a:solidFill>
            <a:srgbClr val="FFFFFF">
              <a:alpha val="100000"/>
            </a:srgbClr>
          </a:solidFill>
          <a:ln w="16640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44" name="文字 44"/>
          <p:cNvSpPr txBox="1"/>
          <p:nvPr/>
        </p:nvSpPr>
        <p:spPr>
          <a:xfrm>
            <a:off x="9836686" y="3641580"/>
            <a:ext cx="811423" cy="1888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2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场景无关接口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9628718" y="3909126"/>
            <a:ext cx="1227358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一份事实 · 按场景裁剪输出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9836686" y="4090987"/>
            <a:ext cx="811423" cy="1416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26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加场景零引擎改动</a:t>
            </a:r>
            <a:endParaRPr/>
          </a:p>
        </p:txBody>
      </p:sp>
      <p:cxnSp>
        <p:nvCxnSpPr>
          <p:cNvPr id="47" name="直线 47"/>
          <p:cNvCxnSpPr/>
          <p:nvPr/>
        </p:nvCxnSpPr>
        <p:spPr>
          <a:xfrm>
            <a:off x="3367030" y="4893626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48" name="直线 48"/>
          <p:cNvCxnSpPr/>
          <p:nvPr/>
        </p:nvCxnSpPr>
        <p:spPr>
          <a:xfrm>
            <a:off x="6175872" y="4893626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49" name="直线 49"/>
          <p:cNvCxnSpPr/>
          <p:nvPr/>
        </p:nvCxnSpPr>
        <p:spPr>
          <a:xfrm>
            <a:off x="8958090" y="4893626"/>
            <a:ext cx="0" cy="265797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50" name="形状 50"/>
          <p:cNvSpPr/>
          <p:nvPr/>
        </p:nvSpPr>
        <p:spPr>
          <a:xfrm>
            <a:off x="677996" y="5187402"/>
            <a:ext cx="10836007" cy="1203083"/>
          </a:xfrm>
          <a:prstGeom prst="roundRect">
            <a:avLst>
              <a:gd name="adj" fmla="val 7745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51" name="文字 51"/>
          <p:cNvSpPr txBox="1"/>
          <p:nvPr/>
        </p:nvSpPr>
        <p:spPr>
          <a:xfrm>
            <a:off x="851053" y="5322399"/>
            <a:ext cx="3697821" cy="20774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12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数据层 · 多源输入读取（全部确定性读取，无概率推断）</a:t>
            </a:r>
            <a:endParaRPr/>
          </a:p>
        </p:txBody>
      </p:sp>
      <p:sp>
        <p:nvSpPr>
          <p:cNvPr id="52" name="形状 52"/>
          <p:cNvSpPr/>
          <p:nvPr/>
        </p:nvSpPr>
        <p:spPr>
          <a:xfrm>
            <a:off x="837741" y="5607082"/>
            <a:ext cx="1677318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53" name="文字 53"/>
          <p:cNvSpPr txBox="1"/>
          <p:nvPr/>
        </p:nvSpPr>
        <p:spPr>
          <a:xfrm>
            <a:off x="1280367" y="5883721"/>
            <a:ext cx="804767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执行平台制品包</a:t>
            </a:r>
            <a:endParaRPr/>
          </a:p>
        </p:txBody>
      </p:sp>
      <p:sp>
        <p:nvSpPr>
          <p:cNvPr id="54" name="形状 54"/>
          <p:cNvSpPr/>
          <p:nvPr/>
        </p:nvSpPr>
        <p:spPr>
          <a:xfrm>
            <a:off x="2648180" y="5607082"/>
            <a:ext cx="1677318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55" name="文字 55"/>
          <p:cNvSpPr txBox="1"/>
          <p:nvPr/>
        </p:nvSpPr>
        <p:spPr>
          <a:xfrm>
            <a:off x="3090805" y="5883721"/>
            <a:ext cx="804767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代码仓规则目录</a:t>
            </a:r>
            <a:endParaRPr/>
          </a:p>
        </p:txBody>
      </p:sp>
      <p:sp>
        <p:nvSpPr>
          <p:cNvPr id="56" name="形状 56"/>
          <p:cNvSpPr/>
          <p:nvPr/>
        </p:nvSpPr>
        <p:spPr>
          <a:xfrm>
            <a:off x="4458618" y="5607082"/>
            <a:ext cx="1677318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57" name="文字 57"/>
          <p:cNvSpPr txBox="1"/>
          <p:nvPr/>
        </p:nvSpPr>
        <p:spPr>
          <a:xfrm>
            <a:off x="5014396" y="5883721"/>
            <a:ext cx="578462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表结构定义</a:t>
            </a:r>
            <a:endParaRPr/>
          </a:p>
        </p:txBody>
      </p:sp>
      <p:sp>
        <p:nvSpPr>
          <p:cNvPr id="58" name="形状 58"/>
          <p:cNvSpPr/>
          <p:nvPr/>
        </p:nvSpPr>
        <p:spPr>
          <a:xfrm>
            <a:off x="6269057" y="5607082"/>
            <a:ext cx="1677318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59" name="文字 59"/>
          <p:cNvSpPr txBox="1"/>
          <p:nvPr/>
        </p:nvSpPr>
        <p:spPr>
          <a:xfrm>
            <a:off x="6824835" y="5883721"/>
            <a:ext cx="578462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质量规则包</a:t>
            </a:r>
            <a:endParaRPr/>
          </a:p>
        </p:txBody>
      </p:sp>
      <p:sp>
        <p:nvSpPr>
          <p:cNvPr id="60" name="形状 60"/>
          <p:cNvSpPr/>
          <p:nvPr/>
        </p:nvSpPr>
        <p:spPr>
          <a:xfrm>
            <a:off x="8079495" y="5607082"/>
            <a:ext cx="1677318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61" name="文字 61"/>
          <p:cNvSpPr txBox="1"/>
          <p:nvPr/>
        </p:nvSpPr>
        <p:spPr>
          <a:xfrm>
            <a:off x="8635273" y="5883721"/>
            <a:ext cx="578462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调度任务包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9889934" y="5607082"/>
            <a:ext cx="1504261" cy="643510"/>
          </a:xfrm>
          <a:prstGeom prst="roundRect">
            <a:avLst>
              <a:gd name="adj" fmla="val 10343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63" name="文字 63"/>
          <p:cNvSpPr txBox="1"/>
          <p:nvPr/>
        </p:nvSpPr>
        <p:spPr>
          <a:xfrm>
            <a:off x="10415760" y="5883721"/>
            <a:ext cx="465310" cy="16052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6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变更清单</a:t>
            </a:r>
            <a:endParaRPr/>
          </a:p>
        </p:txBody>
      </p:sp>
      <p:sp>
        <p:nvSpPr>
          <p:cNvPr id="64" name="形状 64"/>
          <p:cNvSpPr/>
          <p:nvPr/>
        </p:nvSpPr>
        <p:spPr>
          <a:xfrm>
            <a:off x="677996" y="1074536"/>
            <a:ext cx="10836007" cy="1510849"/>
          </a:xfrm>
          <a:prstGeom prst="roundRect">
            <a:avLst>
              <a:gd name="adj" fmla="val 6168"/>
            </a:avLst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65" name="形状 65"/>
          <p:cNvSpPr/>
          <p:nvPr/>
        </p:nvSpPr>
        <p:spPr>
          <a:xfrm>
            <a:off x="677996" y="3033043"/>
            <a:ext cx="10836007" cy="1664732"/>
          </a:xfrm>
          <a:prstGeom prst="roundRect">
            <a:avLst>
              <a:gd name="adj" fmla="val 5598"/>
            </a:avLst>
          </a:prstGeom>
          <a:solidFill>
            <a:srgbClr val="DBEAFE">
              <a:alpha val="55000"/>
            </a:srgbClr>
          </a:solidFill>
          <a:ln>
            <a:noFill/>
          </a:ln>
        </p:spPr>
      </p:sp>
      <p:sp>
        <p:nvSpPr>
          <p:cNvPr id="66" name="文字 66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5 /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6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25325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2.2 · 端到端流程 / PIPELINE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50419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从多源制品到可信基线，再到多场景消费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1170542" y="1486683"/>
            <a:ext cx="1397765" cy="1615231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7" name="文字 7"/>
          <p:cNvSpPr txBox="1"/>
          <p:nvPr/>
        </p:nvSpPr>
        <p:spPr>
          <a:xfrm>
            <a:off x="1603184" y="1920245"/>
            <a:ext cx="545182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多源制品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1461777" y="2245417"/>
            <a:ext cx="827996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制品包 / 规则目录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1403570" y="2466448"/>
            <a:ext cx="944410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表结构 / 质量 / 调度</a:t>
            </a:r>
            <a:endParaRPr/>
          </a:p>
        </p:txBody>
      </p:sp>
      <p:cxnSp>
        <p:nvCxnSpPr>
          <p:cNvPr id="10" name="直线 10"/>
          <p:cNvCxnSpPr/>
          <p:nvPr/>
        </p:nvCxnSpPr>
        <p:spPr>
          <a:xfrm>
            <a:off x="2568307" y="2294299"/>
            <a:ext cx="146433" cy="0"/>
          </a:xfrm>
          <a:prstGeom prst="line">
            <a:avLst/>
          </a:prstGeom>
          <a:ln w="16640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1" name="形状 11"/>
          <p:cNvSpPr/>
          <p:nvPr/>
        </p:nvSpPr>
        <p:spPr>
          <a:xfrm>
            <a:off x="2741364" y="1486683"/>
            <a:ext cx="1530886" cy="1615231"/>
          </a:xfrm>
          <a:prstGeom prst="roundRect">
            <a:avLst>
              <a:gd name="adj" fmla="val 5217"/>
            </a:avLst>
          </a:prstGeom>
          <a:solidFill>
            <a:srgbClr val="FEF9EC">
              <a:alpha val="100000"/>
            </a:srgbClr>
          </a:solidFill>
          <a:ln w="16640">
            <a:solidFill>
              <a:srgbClr val="F59E0B">
                <a:alpha val="100000"/>
              </a:srgbClr>
            </a:solidFill>
            <a:prstDash val="dash"/>
          </a:ln>
        </p:spPr>
      </p:sp>
      <p:sp>
        <p:nvSpPr>
          <p:cNvPr id="12" name="文字 12"/>
          <p:cNvSpPr txBox="1"/>
          <p:nvPr/>
        </p:nvSpPr>
        <p:spPr>
          <a:xfrm>
            <a:off x="3240566" y="1869238"/>
            <a:ext cx="545182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92400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自动分拣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3057525" y="2194409"/>
            <a:ext cx="911263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按内部结构指纹判型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3207286" y="2415441"/>
            <a:ext cx="61174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四类错配拦截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3198999" y="2636472"/>
            <a:ext cx="628316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不猜 · 不静默</a:t>
            </a:r>
            <a:endParaRPr/>
          </a:p>
        </p:txBody>
      </p:sp>
      <p:cxnSp>
        <p:nvCxnSpPr>
          <p:cNvPr id="16" name="直线 16"/>
          <p:cNvCxnSpPr/>
          <p:nvPr/>
        </p:nvCxnSpPr>
        <p:spPr>
          <a:xfrm>
            <a:off x="4272249" y="2294299"/>
            <a:ext cx="146433" cy="0"/>
          </a:xfrm>
          <a:prstGeom prst="line">
            <a:avLst/>
          </a:prstGeom>
          <a:ln w="16640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7" name="形状 17"/>
          <p:cNvSpPr/>
          <p:nvPr/>
        </p:nvSpPr>
        <p:spPr>
          <a:xfrm>
            <a:off x="4445306" y="1486683"/>
            <a:ext cx="1530886" cy="1615231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18" name="文字 18"/>
          <p:cNvSpPr txBox="1"/>
          <p:nvPr/>
        </p:nvSpPr>
        <p:spPr>
          <a:xfrm>
            <a:off x="4877948" y="1869238"/>
            <a:ext cx="678302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确定性解析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911228" y="2194409"/>
            <a:ext cx="61174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多层嵌套穿透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761467" y="2415441"/>
            <a:ext cx="911263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表达式原文逐字保留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961148" y="2636472"/>
            <a:ext cx="51190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无概率推断</a:t>
            </a:r>
            <a:endParaRPr/>
          </a:p>
        </p:txBody>
      </p:sp>
      <p:cxnSp>
        <p:nvCxnSpPr>
          <p:cNvPr id="22" name="直线 22"/>
          <p:cNvCxnSpPr/>
          <p:nvPr/>
        </p:nvCxnSpPr>
        <p:spPr>
          <a:xfrm>
            <a:off x="5976192" y="2294299"/>
            <a:ext cx="146433" cy="0"/>
          </a:xfrm>
          <a:prstGeom prst="line">
            <a:avLst/>
          </a:prstGeom>
          <a:ln w="16640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23" name="形状 23"/>
          <p:cNvSpPr/>
          <p:nvPr/>
        </p:nvSpPr>
        <p:spPr>
          <a:xfrm>
            <a:off x="6149248" y="1486683"/>
            <a:ext cx="1331205" cy="1615231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24" name="文字 24"/>
          <p:cNvSpPr txBox="1"/>
          <p:nvPr/>
        </p:nvSpPr>
        <p:spPr>
          <a:xfrm>
            <a:off x="6615170" y="1920245"/>
            <a:ext cx="412061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事实包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6365569" y="2245417"/>
            <a:ext cx="911263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机器可读的资产文件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6565250" y="2466448"/>
            <a:ext cx="51190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附自检结论</a:t>
            </a:r>
            <a:endParaRPr/>
          </a:p>
        </p:txBody>
      </p:sp>
      <p:cxnSp>
        <p:nvCxnSpPr>
          <p:cNvPr id="27" name="直线 27"/>
          <p:cNvCxnSpPr/>
          <p:nvPr/>
        </p:nvCxnSpPr>
        <p:spPr>
          <a:xfrm>
            <a:off x="7480453" y="2294299"/>
            <a:ext cx="146433" cy="0"/>
          </a:xfrm>
          <a:prstGeom prst="line">
            <a:avLst/>
          </a:prstGeom>
          <a:ln w="16640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28" name="形状 28"/>
          <p:cNvSpPr/>
          <p:nvPr/>
        </p:nvSpPr>
        <p:spPr>
          <a:xfrm>
            <a:off x="7653510" y="1486683"/>
            <a:ext cx="1597446" cy="1615231"/>
          </a:xfrm>
          <a:prstGeom prst="roundRect">
            <a:avLst>
              <a:gd name="adj" fmla="val 5000"/>
            </a:avLst>
          </a:prstGeom>
          <a:solidFill>
            <a:srgbClr val="FEF9EC">
              <a:alpha val="100000"/>
            </a:srgbClr>
          </a:solidFill>
          <a:ln w="16640">
            <a:solidFill>
              <a:srgbClr val="F59E0B">
                <a:alpha val="100000"/>
              </a:srgbClr>
            </a:solidFill>
            <a:prstDash val="dash"/>
          </a:ln>
        </p:spPr>
      </p:sp>
      <p:sp>
        <p:nvSpPr>
          <p:cNvPr id="29" name="文字 29"/>
          <p:cNvSpPr txBox="1"/>
          <p:nvPr/>
        </p:nvSpPr>
        <p:spPr>
          <a:xfrm>
            <a:off x="8185992" y="1869238"/>
            <a:ext cx="545182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92400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入料审核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7953031" y="2194409"/>
            <a:ext cx="1011104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五类交叉核对（对账）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8152711" y="2415441"/>
            <a:ext cx="61174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人审放行留痕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8241220" y="2636472"/>
            <a:ext cx="434725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A1620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AI 零裁量</a:t>
            </a:r>
            <a:endParaRPr/>
          </a:p>
        </p:txBody>
      </p:sp>
      <p:cxnSp>
        <p:nvCxnSpPr>
          <p:cNvPr id="33" name="直线 33"/>
          <p:cNvCxnSpPr/>
          <p:nvPr/>
        </p:nvCxnSpPr>
        <p:spPr>
          <a:xfrm>
            <a:off x="9250955" y="2294299"/>
            <a:ext cx="146433" cy="0"/>
          </a:xfrm>
          <a:prstGeom prst="line">
            <a:avLst/>
          </a:prstGeom>
          <a:ln w="16640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34" name="形状 34"/>
          <p:cNvSpPr/>
          <p:nvPr/>
        </p:nvSpPr>
        <p:spPr>
          <a:xfrm>
            <a:off x="9424012" y="1486683"/>
            <a:ext cx="1530886" cy="1615231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3296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35" name="文字 35"/>
          <p:cNvSpPr txBox="1"/>
          <p:nvPr/>
        </p:nvSpPr>
        <p:spPr>
          <a:xfrm>
            <a:off x="9923214" y="1920245"/>
            <a:ext cx="545182" cy="22953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39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资产档案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9889934" y="2245417"/>
            <a:ext cx="611742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版本管理对象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9681966" y="2466448"/>
            <a:ext cx="1027677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可信基线 · 随交付演进</a:t>
            </a:r>
            <a:endParaRPr/>
          </a:p>
        </p:txBody>
      </p:sp>
      <p:cxnSp>
        <p:nvCxnSpPr>
          <p:cNvPr id="38" name="直线 38"/>
          <p:cNvCxnSpPr/>
          <p:nvPr/>
        </p:nvCxnSpPr>
        <p:spPr>
          <a:xfrm>
            <a:off x="8092807" y="3101914"/>
            <a:ext cx="0" cy="238034"/>
          </a:xfrm>
          <a:prstGeom prst="line">
            <a:avLst/>
          </a:prstGeom>
          <a:ln w="16640">
            <a:solidFill>
              <a:srgbClr val="DC2626">
                <a:alpha val="100000"/>
              </a:srgbClr>
            </a:solidFill>
            <a:prstDash val="dash"/>
            <a:tailEnd type="triangle" w="med" len="med"/>
          </a:ln>
        </p:spPr>
      </p:cxnSp>
      <p:sp>
        <p:nvSpPr>
          <p:cNvPr id="39" name="文字 39"/>
          <p:cNvSpPr txBox="1"/>
          <p:nvPr/>
        </p:nvSpPr>
        <p:spPr>
          <a:xfrm>
            <a:off x="7289126" y="3435587"/>
            <a:ext cx="1327198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1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拦截 · 零残留（档案不诞生）</a:t>
            </a:r>
            <a:endParaRPr/>
          </a:p>
        </p:txBody>
      </p:sp>
      <p:cxnSp>
        <p:nvCxnSpPr>
          <p:cNvPr id="40" name="直线 40"/>
          <p:cNvCxnSpPr/>
          <p:nvPr/>
        </p:nvCxnSpPr>
        <p:spPr>
          <a:xfrm>
            <a:off x="10189455" y="3101914"/>
            <a:ext cx="0" cy="561080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</a:ln>
        </p:spPr>
      </p:cxnSp>
      <p:cxnSp>
        <p:nvCxnSpPr>
          <p:cNvPr id="41" name="直线 41"/>
          <p:cNvCxnSpPr/>
          <p:nvPr/>
        </p:nvCxnSpPr>
        <p:spPr>
          <a:xfrm>
            <a:off x="2089073" y="3662994"/>
            <a:ext cx="8280094" cy="0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</a:ln>
        </p:spPr>
      </p:cxnSp>
      <p:cxnSp>
        <p:nvCxnSpPr>
          <p:cNvPr id="42" name="直线 42"/>
          <p:cNvCxnSpPr/>
          <p:nvPr/>
        </p:nvCxnSpPr>
        <p:spPr>
          <a:xfrm>
            <a:off x="2089073" y="3662994"/>
            <a:ext cx="0" cy="544078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43" name="直线 43"/>
          <p:cNvCxnSpPr/>
          <p:nvPr/>
        </p:nvCxnSpPr>
        <p:spPr>
          <a:xfrm>
            <a:off x="4844667" y="3662994"/>
            <a:ext cx="0" cy="544078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44" name="直线 44"/>
          <p:cNvCxnSpPr/>
          <p:nvPr/>
        </p:nvCxnSpPr>
        <p:spPr>
          <a:xfrm>
            <a:off x="7606917" y="3662994"/>
            <a:ext cx="0" cy="544078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45" name="直线 45"/>
          <p:cNvCxnSpPr/>
          <p:nvPr/>
        </p:nvCxnSpPr>
        <p:spPr>
          <a:xfrm>
            <a:off x="10369167" y="3662994"/>
            <a:ext cx="0" cy="544078"/>
          </a:xfrm>
          <a:prstGeom prst="line">
            <a:avLst/>
          </a:prstGeom>
          <a:ln w="13312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46" name="文字 46"/>
          <p:cNvSpPr txBox="1"/>
          <p:nvPr/>
        </p:nvSpPr>
        <p:spPr>
          <a:xfrm>
            <a:off x="9180029" y="3819417"/>
            <a:ext cx="988846" cy="18362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71" b="0" i="0" u="none">
                <a:solidFill>
                  <a:srgbClr val="1D4ED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同一引擎 · 四类消费</a:t>
            </a:r>
            <a:endParaRPr/>
          </a:p>
        </p:txBody>
      </p:sp>
      <p:sp>
        <p:nvSpPr>
          <p:cNvPr id="47" name="形状 47"/>
          <p:cNvSpPr/>
          <p:nvPr/>
        </p:nvSpPr>
        <p:spPr>
          <a:xfrm>
            <a:off x="837741" y="4258079"/>
            <a:ext cx="2496009" cy="1275182"/>
          </a:xfrm>
          <a:prstGeom prst="roundRect">
            <a:avLst>
              <a:gd name="adj" fmla="val 6264"/>
            </a:avLst>
          </a:prstGeom>
          <a:solidFill>
            <a:srgbClr val="EFF6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48" name="文字 48"/>
          <p:cNvSpPr txBox="1"/>
          <p:nvPr/>
        </p:nvSpPr>
        <p:spPr>
          <a:xfrm>
            <a:off x="1739632" y="4565398"/>
            <a:ext cx="711583" cy="24100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6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资产文档化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1523378" y="4914798"/>
            <a:ext cx="1144091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映射 / 说明书 / 设计文档</a:t>
            </a:r>
            <a:endParaRPr/>
          </a:p>
        </p:txBody>
      </p:sp>
      <p:sp>
        <p:nvSpPr>
          <p:cNvPr id="50" name="形状 50"/>
          <p:cNvSpPr/>
          <p:nvPr/>
        </p:nvSpPr>
        <p:spPr>
          <a:xfrm>
            <a:off x="3599991" y="4258079"/>
            <a:ext cx="2496009" cy="1275182"/>
          </a:xfrm>
          <a:prstGeom prst="roundRect">
            <a:avLst>
              <a:gd name="adj" fmla="val 6264"/>
            </a:avLst>
          </a:prstGeom>
          <a:solidFill>
            <a:srgbClr val="EFF6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51" name="文字 51"/>
          <p:cNvSpPr txBox="1"/>
          <p:nvPr/>
        </p:nvSpPr>
        <p:spPr>
          <a:xfrm>
            <a:off x="4425338" y="4565398"/>
            <a:ext cx="851359" cy="24100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6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字段使用检索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387099" y="4914798"/>
            <a:ext cx="927837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跨表定位 · 清单输出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6362241" y="4258079"/>
            <a:ext cx="2496009" cy="1275182"/>
          </a:xfrm>
          <a:prstGeom prst="roundRect">
            <a:avLst>
              <a:gd name="adj" fmla="val 6264"/>
            </a:avLst>
          </a:prstGeom>
          <a:solidFill>
            <a:srgbClr val="EFF6FF">
              <a:alpha val="100000"/>
            </a:srgbClr>
          </a:solidFill>
          <a:ln w="16640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7187588" y="4565398"/>
            <a:ext cx="851359" cy="24100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6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变更影响分析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6949668" y="4914798"/>
            <a:ext cx="1327198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三态影响清单 · 评审核心场景</a:t>
            </a:r>
            <a:endParaRPr/>
          </a:p>
        </p:txBody>
      </p:sp>
      <p:sp>
        <p:nvSpPr>
          <p:cNvPr id="56" name="形状 56"/>
          <p:cNvSpPr/>
          <p:nvPr/>
        </p:nvSpPr>
        <p:spPr>
          <a:xfrm>
            <a:off x="9124491" y="4258079"/>
            <a:ext cx="2496009" cy="1275182"/>
          </a:xfrm>
          <a:prstGeom prst="roundRect">
            <a:avLst>
              <a:gd name="adj" fmla="val 6264"/>
            </a:avLst>
          </a:prstGeom>
          <a:solidFill>
            <a:srgbClr val="EFF6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57" name="文字 57"/>
          <p:cNvSpPr txBox="1"/>
          <p:nvPr/>
        </p:nvSpPr>
        <p:spPr>
          <a:xfrm>
            <a:off x="9879950" y="4565398"/>
            <a:ext cx="991136" cy="24100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6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优化设计初始化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9612078" y="4914798"/>
            <a:ext cx="1526879" cy="172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基线供给设计开发智能体 · 已对接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837741" y="5839305"/>
            <a:ext cx="10782759" cy="510073"/>
          </a:xfrm>
          <a:prstGeom prst="roundRect">
            <a:avLst>
              <a:gd name="adj" fmla="val 13049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1010798" y="6025057"/>
            <a:ext cx="5387313" cy="21805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72" b="0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产出纪律（守恒契约）：原文逐字保真 · 拿不到就留空（不装作有）· 解析不出就披露（不伪造）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6 /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7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66471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2.3 · 核心机制 / KEY MECHANISMS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50419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两大核心机制：影响判定链与审核对账门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851053" y="1264346"/>
            <a:ext cx="1415910" cy="24510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3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机制一 · 影响判定链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851053" y="1573001"/>
            <a:ext cx="2213967" cy="18116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7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解决：遍历命中 ≠ 实质影响（假阳性爆炸）</a:t>
            </a:r>
            <a:endParaRPr/>
          </a:p>
        </p:txBody>
      </p:sp>
      <p:sp>
        <p:nvSpPr>
          <p:cNvPr id="8" name="形状 8"/>
          <p:cNvSpPr/>
          <p:nvPr/>
        </p:nvSpPr>
        <p:spPr>
          <a:xfrm>
            <a:off x="970861" y="1860737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9" name="文字 9"/>
          <p:cNvSpPr txBox="1"/>
          <p:nvPr/>
        </p:nvSpPr>
        <p:spPr>
          <a:xfrm>
            <a:off x="2496688" y="2137026"/>
            <a:ext cx="1740071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变更清单（只说"什么变了"）</a:t>
            </a:r>
            <a:endParaRPr/>
          </a:p>
        </p:txBody>
      </p:sp>
      <p:cxnSp>
        <p:nvCxnSpPr>
          <p:cNvPr id="10" name="直线 10"/>
          <p:cNvCxnSpPr/>
          <p:nvPr/>
        </p:nvCxnSpPr>
        <p:spPr>
          <a:xfrm>
            <a:off x="3360374" y="2539619"/>
            <a:ext cx="0" cy="189456"/>
          </a:xfrm>
          <a:prstGeom prst="line">
            <a:avLst/>
          </a:prstGeom>
          <a:ln w="13312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1" name="形状 11"/>
          <p:cNvSpPr/>
          <p:nvPr/>
        </p:nvSpPr>
        <p:spPr>
          <a:xfrm>
            <a:off x="970861" y="2760651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12" name="文字 12"/>
          <p:cNvSpPr txBox="1"/>
          <p:nvPr/>
        </p:nvSpPr>
        <p:spPr>
          <a:xfrm>
            <a:off x="2273312" y="3036940"/>
            <a:ext cx="2186823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三层过滤（表级 → 字段级 → 命中）</a:t>
            </a:r>
            <a:endParaRPr/>
          </a:p>
        </p:txBody>
      </p:sp>
      <p:cxnSp>
        <p:nvCxnSpPr>
          <p:cNvPr id="13" name="直线 13"/>
          <p:cNvCxnSpPr/>
          <p:nvPr/>
        </p:nvCxnSpPr>
        <p:spPr>
          <a:xfrm>
            <a:off x="3360374" y="3439534"/>
            <a:ext cx="0" cy="189456"/>
          </a:xfrm>
          <a:prstGeom prst="line">
            <a:avLst/>
          </a:prstGeom>
          <a:ln w="13312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4" name="形状 14"/>
          <p:cNvSpPr/>
          <p:nvPr/>
        </p:nvSpPr>
        <p:spPr>
          <a:xfrm>
            <a:off x="970861" y="3660565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15" name="文字 15"/>
          <p:cNvSpPr txBox="1"/>
          <p:nvPr/>
        </p:nvSpPr>
        <p:spPr>
          <a:xfrm>
            <a:off x="2228850" y="3873703"/>
            <a:ext cx="2275748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确定性传播——只算波及域，不判影响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2262130" y="4128284"/>
            <a:ext cx="2209188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沿加工路径逐跳追踪：上游变了，波及到哪些字段</a:t>
            </a:r>
            <a:endParaRPr/>
          </a:p>
        </p:txBody>
      </p:sp>
      <p:cxnSp>
        <p:nvCxnSpPr>
          <p:cNvPr id="17" name="直线 17"/>
          <p:cNvCxnSpPr/>
          <p:nvPr/>
        </p:nvCxnSpPr>
        <p:spPr>
          <a:xfrm>
            <a:off x="3360374" y="4339448"/>
            <a:ext cx="0" cy="189456"/>
          </a:xfrm>
          <a:prstGeom prst="line">
            <a:avLst/>
          </a:prstGeom>
          <a:ln w="13312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18" name="形状 18"/>
          <p:cNvSpPr/>
          <p:nvPr/>
        </p:nvSpPr>
        <p:spPr>
          <a:xfrm>
            <a:off x="970861" y="4560480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19968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19" name="形状 19"/>
          <p:cNvSpPr/>
          <p:nvPr/>
        </p:nvSpPr>
        <p:spPr>
          <a:xfrm>
            <a:off x="5230717" y="4497328"/>
            <a:ext cx="519170" cy="205244"/>
          </a:xfrm>
          <a:prstGeom prst="roundRect">
            <a:avLst>
              <a:gd name="adj" fmla="val 42159"/>
            </a:avLst>
          </a:prstGeom>
          <a:solidFill>
            <a:srgbClr val="1D4ED8">
              <a:alpha val="100000"/>
            </a:srgbClr>
          </a:solidFill>
          <a:ln>
            <a:noFill/>
          </a:ln>
        </p:spPr>
      </p:sp>
      <p:sp>
        <p:nvSpPr>
          <p:cNvPr id="20" name="文字 20"/>
          <p:cNvSpPr txBox="1"/>
          <p:nvPr/>
        </p:nvSpPr>
        <p:spPr>
          <a:xfrm>
            <a:off x="5350525" y="4553375"/>
            <a:ext cx="292253" cy="14919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70" b="1" i="0" u="non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专利点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2144252" y="4742041"/>
            <a:ext cx="2444944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语义判定——类型兼容链 + 类型转换关口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2295477" y="4996622"/>
            <a:ext cx="2142494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转换能兼容 → 变化被吸收；不兼容 → 判有影响</a:t>
            </a:r>
            <a:endParaRPr/>
          </a:p>
        </p:txBody>
      </p:sp>
      <p:cxnSp>
        <p:nvCxnSpPr>
          <p:cNvPr id="23" name="直线 23"/>
          <p:cNvCxnSpPr/>
          <p:nvPr/>
        </p:nvCxnSpPr>
        <p:spPr>
          <a:xfrm>
            <a:off x="3360374" y="5239362"/>
            <a:ext cx="0" cy="189456"/>
          </a:xfrm>
          <a:prstGeom prst="line">
            <a:avLst/>
          </a:prstGeom>
          <a:ln w="13312">
            <a:solidFill>
              <a:srgbClr val="475569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24" name="形状 24"/>
          <p:cNvSpPr/>
          <p:nvPr/>
        </p:nvSpPr>
        <p:spPr>
          <a:xfrm>
            <a:off x="970861" y="5460394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9984">
            <a:solidFill>
              <a:srgbClr val="16A34A">
                <a:alpha val="100000"/>
              </a:srgbClr>
            </a:solidFill>
            <a:prstDash val="solid"/>
          </a:ln>
        </p:spPr>
      </p:sp>
      <p:sp>
        <p:nvSpPr>
          <p:cNvPr id="25" name="文字 25"/>
          <p:cNvSpPr txBox="1"/>
          <p:nvPr/>
        </p:nvSpPr>
        <p:spPr>
          <a:xfrm>
            <a:off x="1807391" y="5736683"/>
            <a:ext cx="3118667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三态输出：有影响 / 待确认 / 无影响（附录可追溯）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6322305" y="1264346"/>
            <a:ext cx="1415910" cy="24510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3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机制二 · 审核对账门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6322305" y="1573001"/>
            <a:ext cx="1596834" cy="18116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7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解决：机器逆向产物凭什么可信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6442113" y="1860737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29" name="文字 29"/>
          <p:cNvSpPr txBox="1"/>
          <p:nvPr/>
        </p:nvSpPr>
        <p:spPr>
          <a:xfrm>
            <a:off x="7544883" y="2137026"/>
            <a:ext cx="2586185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契约一致性校验（版本 / 结构 / 内部一致）</a:t>
            </a:r>
            <a:endParaRPr/>
          </a:p>
        </p:txBody>
      </p:sp>
      <p:sp>
        <p:nvSpPr>
          <p:cNvPr id="30" name="形状 30"/>
          <p:cNvSpPr/>
          <p:nvPr/>
        </p:nvSpPr>
        <p:spPr>
          <a:xfrm>
            <a:off x="6442113" y="2665923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31" name="文字 31"/>
          <p:cNvSpPr txBox="1"/>
          <p:nvPr/>
        </p:nvSpPr>
        <p:spPr>
          <a:xfrm>
            <a:off x="8432264" y="2879061"/>
            <a:ext cx="811423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资产身份对账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7833222" y="3133642"/>
            <a:ext cx="2009507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镜像归一比对——拿错资产的材料，直接拒收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6442113" y="3471110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16640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34" name="形状 34"/>
          <p:cNvSpPr/>
          <p:nvPr/>
        </p:nvSpPr>
        <p:spPr>
          <a:xfrm>
            <a:off x="10701969" y="3407958"/>
            <a:ext cx="519170" cy="205244"/>
          </a:xfrm>
          <a:prstGeom prst="roundRect">
            <a:avLst>
              <a:gd name="adj" fmla="val 42159"/>
            </a:avLst>
          </a:prstGeom>
          <a:solidFill>
            <a:srgbClr val="1D4ED8">
              <a:alpha val="100000"/>
            </a:srgbClr>
          </a:solidFill>
          <a:ln>
            <a:noFill/>
          </a:ln>
        </p:spPr>
      </p:sp>
      <p:sp>
        <p:nvSpPr>
          <p:cNvPr id="35" name="文字 35"/>
          <p:cNvSpPr txBox="1"/>
          <p:nvPr/>
        </p:nvSpPr>
        <p:spPr>
          <a:xfrm>
            <a:off x="10821777" y="3464005"/>
            <a:ext cx="292253" cy="14919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70" b="1" i="0" u="non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专利点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032903" y="3684247"/>
            <a:ext cx="1610146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变更时序对账（必杀特征）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7750704" y="3938828"/>
            <a:ext cx="2174543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变更记录 vs 制品字段——两条时间线一致性检测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6442113" y="4276296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39" name="文字 39"/>
          <p:cNvSpPr txBox="1"/>
          <p:nvPr/>
        </p:nvSpPr>
        <p:spPr>
          <a:xfrm>
            <a:off x="8432264" y="4489434"/>
            <a:ext cx="811423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反向台账对账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7883142" y="4744015"/>
            <a:ext cx="1909667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制品有、变更记录没有——滞后，提示披露</a:t>
            </a:r>
            <a:endParaRPr/>
          </a:p>
        </p:txBody>
      </p:sp>
      <p:sp>
        <p:nvSpPr>
          <p:cNvPr id="41" name="形状 41"/>
          <p:cNvSpPr/>
          <p:nvPr/>
        </p:nvSpPr>
        <p:spPr>
          <a:xfrm>
            <a:off x="6442113" y="5081483"/>
            <a:ext cx="4779025" cy="678883"/>
          </a:xfrm>
          <a:prstGeom prst="roundRect">
            <a:avLst>
              <a:gd name="adj" fmla="val 9804"/>
            </a:avLst>
          </a:prstGeom>
          <a:solidFill>
            <a:srgbClr val="FFFFFF">
              <a:alpha val="100000"/>
            </a:srgbClr>
          </a:solidFill>
          <a:ln w="6656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42" name="文字 42"/>
          <p:cNvSpPr txBox="1"/>
          <p:nvPr/>
        </p:nvSpPr>
        <p:spPr>
          <a:xfrm>
            <a:off x="8299144" y="5294620"/>
            <a:ext cx="1077664" cy="21313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43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自检结论分级消费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8016330" y="5549201"/>
            <a:ext cx="1643293" cy="15985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2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待审拦截 · 人审放行留痕 · 旧版降级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6442113" y="5886669"/>
            <a:ext cx="4779025" cy="410487"/>
          </a:xfrm>
          <a:prstGeom prst="roundRect">
            <a:avLst>
              <a:gd name="adj" fmla="val 16215"/>
            </a:avLst>
          </a:prstGeom>
          <a:solidFill>
            <a:srgbClr val="FEF2F2">
              <a:alpha val="100000"/>
            </a:srgbClr>
          </a:solidFill>
          <a:ln w="9984">
            <a:solidFill>
              <a:srgbClr val="DC2626">
                <a:alpha val="100000"/>
              </a:srgbClr>
            </a:solidFill>
            <a:prstDash val="solid"/>
          </a:ln>
        </p:spPr>
      </p:sp>
      <p:sp>
        <p:nvSpPr>
          <p:cNvPr id="45" name="文字 45"/>
          <p:cNvSpPr txBox="1"/>
          <p:nvPr/>
        </p:nvSpPr>
        <p:spPr>
          <a:xfrm>
            <a:off x="7347978" y="6034287"/>
            <a:ext cx="2979995" cy="19182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19" b="1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拦截零残留 · AI 零裁量（不代填 / 不重试 / 上报即止）</a:t>
            </a:r>
            <a:endParaRPr/>
          </a:p>
        </p:txBody>
      </p:sp>
      <p:sp>
        <p:nvSpPr>
          <p:cNvPr id="46" name="形状 46"/>
          <p:cNvSpPr/>
          <p:nvPr/>
        </p:nvSpPr>
        <p:spPr>
          <a:xfrm>
            <a:off x="677996" y="1087126"/>
            <a:ext cx="5364755" cy="5304758"/>
          </a:xfrm>
          <a:prstGeom prst="roundRect">
            <a:avLst>
              <a:gd name="adj" fmla="val 1757"/>
            </a:avLst>
          </a:prstGeom>
          <a:solidFill>
            <a:srgbClr val="EFF6FF">
              <a:alpha val="50000"/>
            </a:srgbClr>
          </a:solidFill>
          <a:ln>
            <a:noFill/>
          </a:ln>
        </p:spPr>
      </p:sp>
      <p:sp>
        <p:nvSpPr>
          <p:cNvPr id="47" name="形状 47"/>
          <p:cNvSpPr/>
          <p:nvPr/>
        </p:nvSpPr>
        <p:spPr>
          <a:xfrm>
            <a:off x="6149248" y="1087126"/>
            <a:ext cx="5364755" cy="5304758"/>
          </a:xfrm>
          <a:prstGeom prst="roundRect">
            <a:avLst>
              <a:gd name="adj" fmla="val 1757"/>
            </a:avLst>
          </a:prstGeom>
          <a:solidFill>
            <a:srgbClr val="DBEAFE">
              <a:alpha val="45000"/>
            </a:srgbClr>
          </a:solidFill>
          <a:ln>
            <a:noFill/>
          </a:ln>
        </p:spPr>
      </p:sp>
      <p:sp>
        <p:nvSpPr>
          <p:cNvPr id="48" name="文字 48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7 / 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8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193317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2.4 · 运行现状 / STATUS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58801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三档分级：已运行的能力，与原理已闭合的演进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571500" y="976610"/>
            <a:ext cx="3615234" cy="43573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7" name="形状 7"/>
          <p:cNvSpPr/>
          <p:nvPr/>
        </p:nvSpPr>
        <p:spPr>
          <a:xfrm>
            <a:off x="577850" y="982960"/>
            <a:ext cx="3602534" cy="374650"/>
          </a:xfrm>
          <a:prstGeom prst="rect">
            <a:avLst/>
          </a:prstGeom>
          <a:solidFill>
            <a:srgbClr val="F0FDF4">
              <a:alpha val="100000"/>
            </a:srgbClr>
          </a:solidFill>
          <a:ln>
            <a:noFill/>
          </a:ln>
        </p:spPr>
      </p:sp>
      <p:sp>
        <p:nvSpPr>
          <p:cNvPr id="8" name="形状 8"/>
          <p:cNvSpPr/>
          <p:nvPr/>
        </p:nvSpPr>
        <p:spPr>
          <a:xfrm>
            <a:off x="704850" y="1125835"/>
            <a:ext cx="88900" cy="88900"/>
          </a:xfrm>
          <a:prstGeom prst="ellipse">
            <a:avLst/>
          </a:prstGeom>
          <a:solidFill>
            <a:srgbClr val="16A34A">
              <a:alpha val="100000"/>
            </a:srgbClr>
          </a:solidFill>
          <a:ln>
            <a:noFill/>
          </a:ln>
        </p:spPr>
      </p:sp>
      <p:sp>
        <p:nvSpPr>
          <p:cNvPr id="9" name="文字 9"/>
          <p:cNvSpPr txBox="1"/>
          <p:nvPr/>
        </p:nvSpPr>
        <p:spPr>
          <a:xfrm>
            <a:off x="857250" y="1071860"/>
            <a:ext cx="469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已运行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704850" y="2388890"/>
            <a:ext cx="5207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资产文档化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704850" y="2598440"/>
            <a:ext cx="210383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字段映射 · 资产说明书 · 技术设计文档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704850" y="2824460"/>
            <a:ext cx="6223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字段使用检索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704850" y="3034010"/>
            <a:ext cx="13398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跨表定位用途，输出清单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704850" y="3260030"/>
            <a:ext cx="6223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变更影响分析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704850" y="346958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三态影响清单，全流程可用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704850" y="3695601"/>
            <a:ext cx="5207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事实包导出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704850" y="3905151"/>
            <a:ext cx="174188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守恒契约 · 自动分拣 · 三态自检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704850" y="4156571"/>
            <a:ext cx="89158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全流程实测 0.4 秒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4288334" y="976610"/>
            <a:ext cx="3615234" cy="43573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0" name="形状 20"/>
          <p:cNvSpPr/>
          <p:nvPr/>
        </p:nvSpPr>
        <p:spPr>
          <a:xfrm>
            <a:off x="4294684" y="982960"/>
            <a:ext cx="3602534" cy="374650"/>
          </a:xfrm>
          <a:prstGeom prst="rect">
            <a:avLst/>
          </a:prstGeom>
          <a:solidFill>
            <a:srgbClr val="EFF6FF">
              <a:alpha val="100000"/>
            </a:srgbClr>
          </a:solidFill>
          <a:ln>
            <a:noFill/>
          </a:ln>
        </p:spPr>
      </p:sp>
      <p:sp>
        <p:nvSpPr>
          <p:cNvPr id="21" name="形状 21"/>
          <p:cNvSpPr/>
          <p:nvPr/>
        </p:nvSpPr>
        <p:spPr>
          <a:xfrm>
            <a:off x="4421684" y="1125835"/>
            <a:ext cx="88900" cy="88900"/>
          </a:xfrm>
          <a:prstGeom prst="ellipse">
            <a:avLst/>
          </a:prstGeom>
          <a:solidFill>
            <a:srgbClr val="1D4ED8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4574084" y="1071860"/>
            <a:ext cx="469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已对接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421684" y="2388890"/>
            <a:ext cx="3175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消费方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421684" y="2598440"/>
            <a:ext cx="15811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设计开发智能体（跨仓协作）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4421684" y="2824460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供给内容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421684" y="3034010"/>
            <a:ext cx="1219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审核建档后的可信基线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421684" y="3260030"/>
            <a:ext cx="3175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已验证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421684" y="3469580"/>
            <a:ext cx="1219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首个优化场景实测跑通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421684" y="3695601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护栏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421684" y="3905151"/>
            <a:ext cx="1372592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关口护栏 + 全程人审确认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421684" y="4156571"/>
            <a:ext cx="120015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优化场景已进入实际交付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8005167" y="976610"/>
            <a:ext cx="3615234" cy="43573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33" name="形状 33"/>
          <p:cNvSpPr/>
          <p:nvPr/>
        </p:nvSpPr>
        <p:spPr>
          <a:xfrm>
            <a:off x="8011517" y="982960"/>
            <a:ext cx="3602534" cy="374650"/>
          </a:xfrm>
          <a:prstGeom prst="rect">
            <a:avLst/>
          </a:prstGeom>
          <a:solidFill>
            <a:srgbClr val="FEF9EC">
              <a:alpha val="100000"/>
            </a:srgbClr>
          </a:solidFill>
          <a:ln>
            <a:noFill/>
          </a:ln>
        </p:spPr>
      </p:sp>
      <p:sp>
        <p:nvSpPr>
          <p:cNvPr id="34" name="形状 34"/>
          <p:cNvSpPr/>
          <p:nvPr/>
        </p:nvSpPr>
        <p:spPr>
          <a:xfrm>
            <a:off x="8138517" y="1125835"/>
            <a:ext cx="88900" cy="88900"/>
          </a:xfrm>
          <a:prstGeom prst="ellipse">
            <a:avLst/>
          </a:prstGeom>
          <a:solidFill>
            <a:srgbClr val="D97706">
              <a:alpha val="100000"/>
            </a:srgbClr>
          </a:solidFill>
          <a:ln>
            <a:noFill/>
          </a:ln>
        </p:spPr>
      </p:sp>
      <p:sp>
        <p:nvSpPr>
          <p:cNvPr id="35" name="文字 35"/>
          <p:cNvSpPr txBox="1"/>
          <p:nvPr/>
        </p:nvSpPr>
        <p:spPr>
          <a:xfrm>
            <a:off x="8290917" y="1071860"/>
            <a:ext cx="13843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92400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设计中（原理闭合）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138517" y="2388890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演进闭环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138517" y="2598440"/>
            <a:ext cx="2546152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影响清单 → 逐条解读 → 方案草稿 → 人审执行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8138517" y="2824460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档案推进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8138517" y="303401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交付收口后基线随变更演进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8138517" y="3260030"/>
            <a:ext cx="5207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确定性纪律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8138517" y="3469580"/>
            <a:ext cx="1219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全链无概率性环节兜底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8138517" y="3695601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组件支撑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8138517" y="3905151"/>
            <a:ext cx="1219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各环节均有已运行组件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8138517" y="4156571"/>
            <a:ext cx="1157188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92400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确定性轨道上的 AI 增强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638060" y="5500052"/>
            <a:ext cx="2808230" cy="1800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演进主线：认知地基越铺越大，场景越连越深</a:t>
            </a:r>
            <a:endParaRPr/>
          </a:p>
        </p:txBody>
      </p:sp>
      <p:sp>
        <p:nvSpPr>
          <p:cNvPr id="46" name="形状 46"/>
          <p:cNvSpPr/>
          <p:nvPr/>
        </p:nvSpPr>
        <p:spPr>
          <a:xfrm>
            <a:off x="638060" y="5740400"/>
            <a:ext cx="3194892" cy="622300"/>
          </a:xfrm>
          <a:prstGeom prst="roundRect">
            <a:avLst>
              <a:gd name="adj" fmla="val 10696"/>
            </a:avLst>
          </a:prstGeom>
          <a:solidFill>
            <a:srgbClr val="F0FDF4">
              <a:alpha val="100000"/>
            </a:srgbClr>
          </a:solidFill>
          <a:ln w="9984">
            <a:solidFill>
              <a:srgbClr val="16A34A">
                <a:alpha val="100000"/>
              </a:srgbClr>
            </a:solidFill>
            <a:prstDash val="solid"/>
          </a:ln>
        </p:spPr>
      </p:sp>
      <p:sp>
        <p:nvSpPr>
          <p:cNvPr id="47" name="文字 47"/>
          <p:cNvSpPr txBox="1"/>
          <p:nvPr/>
        </p:nvSpPr>
        <p:spPr>
          <a:xfrm>
            <a:off x="1603184" y="5904548"/>
            <a:ext cx="1277345" cy="16287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单资产认知（已运行）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1578849" y="6123940"/>
            <a:ext cx="1326013" cy="1371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374151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制品 → 事实包 → 影响清单</a:t>
            </a:r>
            <a:endParaRPr/>
          </a:p>
        </p:txBody>
      </p:sp>
      <p:cxnSp>
        <p:nvCxnSpPr>
          <p:cNvPr id="49" name="直线 49"/>
          <p:cNvCxnSpPr/>
          <p:nvPr/>
        </p:nvCxnSpPr>
        <p:spPr>
          <a:xfrm>
            <a:off x="3832952" y="6051550"/>
            <a:ext cx="386049" cy="0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50" name="形状 50"/>
          <p:cNvSpPr/>
          <p:nvPr/>
        </p:nvSpPr>
        <p:spPr>
          <a:xfrm>
            <a:off x="4245625" y="5740400"/>
            <a:ext cx="3194892" cy="622300"/>
          </a:xfrm>
          <a:prstGeom prst="roundRect">
            <a:avLst>
              <a:gd name="adj" fmla="val 10696"/>
            </a:avLst>
          </a:prstGeom>
          <a:solidFill>
            <a:srgbClr val="EFF6FF">
              <a:alpha val="100000"/>
            </a:srgbClr>
          </a:solidFill>
          <a:ln w="9984">
            <a:solidFill>
              <a:srgbClr val="1D4ED8">
                <a:alpha val="100000"/>
              </a:srgbClr>
            </a:solidFill>
            <a:prstDash val="solid"/>
          </a:ln>
        </p:spPr>
      </p:sp>
      <p:sp>
        <p:nvSpPr>
          <p:cNvPr id="51" name="文字 51"/>
          <p:cNvSpPr txBox="1"/>
          <p:nvPr/>
        </p:nvSpPr>
        <p:spPr>
          <a:xfrm>
            <a:off x="5084284" y="5904548"/>
            <a:ext cx="1530273" cy="16287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认知进开发流程（已对接）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5026670" y="6123940"/>
            <a:ext cx="1645502" cy="1371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374151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建档基线 → 增量设计 → 交付推进</a:t>
            </a:r>
            <a:endParaRPr/>
          </a:p>
        </p:txBody>
      </p:sp>
      <p:cxnSp>
        <p:nvCxnSpPr>
          <p:cNvPr id="53" name="直线 53"/>
          <p:cNvCxnSpPr/>
          <p:nvPr/>
        </p:nvCxnSpPr>
        <p:spPr>
          <a:xfrm>
            <a:off x="7440517" y="6051550"/>
            <a:ext cx="386049" cy="0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54" name="形状 54"/>
          <p:cNvSpPr/>
          <p:nvPr/>
        </p:nvSpPr>
        <p:spPr>
          <a:xfrm>
            <a:off x="7853190" y="5740400"/>
            <a:ext cx="3700749" cy="622300"/>
          </a:xfrm>
          <a:prstGeom prst="roundRect">
            <a:avLst>
              <a:gd name="adj" fmla="val 10696"/>
            </a:avLst>
          </a:prstGeom>
          <a:solidFill>
            <a:srgbClr val="FEF9EC">
              <a:alpha val="100000"/>
            </a:srgbClr>
          </a:solidFill>
          <a:ln w="9984">
            <a:solidFill>
              <a:srgbClr val="D97706">
                <a:alpha val="100000"/>
              </a:srgbClr>
            </a:solidFill>
            <a:prstDash val="solid"/>
          </a:ln>
        </p:spPr>
      </p:sp>
      <p:sp>
        <p:nvSpPr>
          <p:cNvPr id="55" name="文字 55"/>
          <p:cNvSpPr txBox="1"/>
          <p:nvPr/>
        </p:nvSpPr>
        <p:spPr>
          <a:xfrm>
            <a:off x="9008011" y="5904548"/>
            <a:ext cx="1403809" cy="16287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92400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变更驱动闭环（设计中）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8691956" y="6123940"/>
            <a:ext cx="2035918" cy="1371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78350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影响清单 → 解读 → 方案草稿 → 人审执行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8 /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9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11603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3.1 · 实现效果 / EVIDENCE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65150"/>
            <a:ext cx="4279900" cy="374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四组实测：判定与拦截全部真实通过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853083" y="1018480"/>
            <a:ext cx="1079500" cy="749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0.4s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1919883" y="1399480"/>
            <a:ext cx="23495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 事实包全流程（制品目录→落盘）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4612283" y="1018480"/>
            <a:ext cx="869355" cy="749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7/7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5468938" y="1399480"/>
            <a:ext cx="673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 分拣正确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6484938" y="1018480"/>
            <a:ext cx="919559" cy="749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4/4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7391797" y="1399480"/>
            <a:ext cx="1816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 坏料拦截（错料/过期料）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9550797" y="1018480"/>
            <a:ext cx="332780" cy="749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2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9870877" y="1323280"/>
            <a:ext cx="317500" cy="317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 种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10175677" y="1399480"/>
            <a:ext cx="1175841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 cast 关口双行为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571500" y="1856680"/>
            <a:ext cx="473442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cast 关口双行为——同一变更，关口不同，判定不同（工具输出原文摘录）：</a:t>
            </a:r>
            <a:endParaRPr/>
          </a:p>
        </p:txBody>
      </p:sp>
      <p:sp>
        <p:nvSpPr>
          <p:cNvPr id="16" name="形状 16"/>
          <p:cNvSpPr/>
          <p:nvPr/>
        </p:nvSpPr>
        <p:spPr>
          <a:xfrm>
            <a:off x="704620" y="3323059"/>
            <a:ext cx="2396169" cy="1090067"/>
          </a:xfrm>
          <a:prstGeom prst="roundRect">
            <a:avLst>
              <a:gd name="adj" fmla="val 7327"/>
            </a:avLst>
          </a:prstGeom>
          <a:solidFill>
            <a:srgbClr val="F8FAFC">
              <a:alpha val="100000"/>
            </a:srgbClr>
          </a:solidFill>
          <a:ln w="9984">
            <a:solidFill>
              <a:srgbClr val="94A3B8">
                <a:alpha val="100000"/>
              </a:srgbClr>
            </a:solidFill>
            <a:prstDash val="solid"/>
          </a:ln>
        </p:spPr>
      </p:sp>
      <p:sp>
        <p:nvSpPr>
          <p:cNvPr id="17" name="文字 17"/>
          <p:cNvSpPr txBox="1"/>
          <p:nvPr/>
        </p:nvSpPr>
        <p:spPr>
          <a:xfrm>
            <a:off x="1596528" y="3575721"/>
            <a:ext cx="625054" cy="24176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10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同一变更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150009" y="3920260"/>
            <a:ext cx="1518092" cy="189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4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balance varchar(10) → (20)</a:t>
            </a:r>
            <a:endParaRPr/>
          </a:p>
        </p:txBody>
      </p:sp>
      <p:cxnSp>
        <p:nvCxnSpPr>
          <p:cNvPr id="19" name="直线 19"/>
          <p:cNvCxnSpPr/>
          <p:nvPr/>
        </p:nvCxnSpPr>
        <p:spPr>
          <a:xfrm flipV="1">
            <a:off x="3100789" y="2972681"/>
            <a:ext cx="505858" cy="622895"/>
          </a:xfrm>
          <a:prstGeom prst="line">
            <a:avLst/>
          </a:prstGeom>
          <a:ln w="19968">
            <a:solidFill>
              <a:srgbClr val="DC2626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20" name="直线 20"/>
          <p:cNvCxnSpPr/>
          <p:nvPr/>
        </p:nvCxnSpPr>
        <p:spPr>
          <a:xfrm>
            <a:off x="3100789" y="4140609"/>
            <a:ext cx="505858" cy="700757"/>
          </a:xfrm>
          <a:prstGeom prst="line">
            <a:avLst/>
          </a:prstGeom>
          <a:ln w="19968">
            <a:solidFill>
              <a:srgbClr val="16A34A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21" name="形状 21"/>
          <p:cNvSpPr/>
          <p:nvPr/>
        </p:nvSpPr>
        <p:spPr>
          <a:xfrm>
            <a:off x="3633271" y="2544440"/>
            <a:ext cx="2529289" cy="934343"/>
          </a:xfrm>
          <a:prstGeom prst="roundRect">
            <a:avLst>
              <a:gd name="adj" fmla="val 8548"/>
            </a:avLst>
          </a:prstGeom>
          <a:solidFill>
            <a:srgbClr val="FFFFFF">
              <a:alpha val="100000"/>
            </a:srgbClr>
          </a:solidFill>
          <a:ln w="13312">
            <a:solidFill>
              <a:srgbClr val="DC2626">
                <a:alpha val="100000"/>
              </a:srgbClr>
            </a:solidFill>
            <a:prstDash val="dash"/>
          </a:ln>
        </p:spPr>
      </p:sp>
      <p:sp>
        <p:nvSpPr>
          <p:cNvPr id="22" name="文字 22"/>
          <p:cNvSpPr txBox="1"/>
          <p:nvPr/>
        </p:nvSpPr>
        <p:spPr>
          <a:xfrm>
            <a:off x="3935821" y="2772575"/>
            <a:ext cx="1936889" cy="231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49" b="1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⚡ cast 关口 DECIMAL(18,2)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3975152" y="3094924"/>
            <a:ext cx="1858228" cy="189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4" b="0" i="0" u="none">
                <a:solidFill>
                  <a:srgbClr val="7F1D1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跨类型族（varchar → NUMBER）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3633271" y="4413126"/>
            <a:ext cx="2529289" cy="934343"/>
          </a:xfrm>
          <a:prstGeom prst="roundRect">
            <a:avLst>
              <a:gd name="adj" fmla="val 8548"/>
            </a:avLst>
          </a:prstGeom>
          <a:solidFill>
            <a:srgbClr val="FFFFFF">
              <a:alpha val="100000"/>
            </a:srgbClr>
          </a:solidFill>
          <a:ln w="13312">
            <a:solidFill>
              <a:srgbClr val="16A34A">
                <a:alpha val="100000"/>
              </a:srgbClr>
            </a:solidFill>
            <a:prstDash val="dash"/>
          </a:ln>
        </p:spPr>
      </p:sp>
      <p:sp>
        <p:nvSpPr>
          <p:cNvPr id="25" name="文字 25"/>
          <p:cNvSpPr txBox="1"/>
          <p:nvPr/>
        </p:nvSpPr>
        <p:spPr>
          <a:xfrm>
            <a:off x="4058385" y="4641261"/>
            <a:ext cx="1691761" cy="231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49" b="1" i="0" u="none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⚡ cast 关口 varchar(50)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358778" y="4963610"/>
            <a:ext cx="1090976" cy="189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4" b="0" i="0" u="none">
                <a:solidFill>
                  <a:srgbClr val="14532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同族更宽，容量足够</a:t>
            </a:r>
            <a:endParaRPr/>
          </a:p>
        </p:txBody>
      </p:sp>
      <p:cxnSp>
        <p:nvCxnSpPr>
          <p:cNvPr id="27" name="直线 27"/>
          <p:cNvCxnSpPr/>
          <p:nvPr/>
        </p:nvCxnSpPr>
        <p:spPr>
          <a:xfrm>
            <a:off x="6162560" y="3011612"/>
            <a:ext cx="505858" cy="0"/>
          </a:xfrm>
          <a:prstGeom prst="line">
            <a:avLst/>
          </a:prstGeom>
          <a:ln w="19968">
            <a:solidFill>
              <a:srgbClr val="DC2626">
                <a:alpha val="100000"/>
              </a:srgbClr>
            </a:solidFill>
            <a:prstDash val="solid"/>
            <a:tailEnd type="triangle" w="med" len="med"/>
          </a:ln>
        </p:spPr>
      </p:cxnSp>
      <p:cxnSp>
        <p:nvCxnSpPr>
          <p:cNvPr id="28" name="直线 28"/>
          <p:cNvCxnSpPr/>
          <p:nvPr/>
        </p:nvCxnSpPr>
        <p:spPr>
          <a:xfrm>
            <a:off x="6162560" y="4880297"/>
            <a:ext cx="505858" cy="0"/>
          </a:xfrm>
          <a:prstGeom prst="line">
            <a:avLst/>
          </a:prstGeom>
          <a:ln w="19968">
            <a:solidFill>
              <a:srgbClr val="16A34A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29" name="形状 29"/>
          <p:cNvSpPr/>
          <p:nvPr/>
        </p:nvSpPr>
        <p:spPr>
          <a:xfrm>
            <a:off x="6695042" y="2544440"/>
            <a:ext cx="4792337" cy="934343"/>
          </a:xfrm>
          <a:prstGeom prst="roundRect">
            <a:avLst>
              <a:gd name="adj" fmla="val 8548"/>
            </a:avLst>
          </a:prstGeom>
          <a:solidFill>
            <a:srgbClr val="FEF2F2">
              <a:alpha val="100000"/>
            </a:srgbClr>
          </a:solidFill>
          <a:ln w="9984">
            <a:solidFill>
              <a:srgbClr val="DC2626">
                <a:alpha val="100000"/>
              </a:srgbClr>
            </a:solidFill>
            <a:prstDash val="solid"/>
          </a:ln>
        </p:spPr>
      </p:sp>
      <p:sp>
        <p:nvSpPr>
          <p:cNvPr id="30" name="文字 30"/>
          <p:cNvSpPr txBox="1"/>
          <p:nvPr/>
        </p:nvSpPr>
        <p:spPr>
          <a:xfrm>
            <a:off x="6881411" y="2765957"/>
            <a:ext cx="2269298" cy="24176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10" b="1" i="0" u="none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🔴 有影响（high）—— 关口拦截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6881411" y="3110496"/>
            <a:ext cx="3435386" cy="189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4" b="0" i="0" u="none">
                <a:solidFill>
                  <a:srgbClr val="7F1D1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工具输出：源新类型 varchar(20) 与 cast 关口 NUMBER 不兼容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6695042" y="4413126"/>
            <a:ext cx="4792337" cy="934343"/>
          </a:xfrm>
          <a:prstGeom prst="roundRect">
            <a:avLst>
              <a:gd name="adj" fmla="val 8548"/>
            </a:avLst>
          </a:prstGeom>
          <a:solidFill>
            <a:srgbClr val="F0FDF4">
              <a:alpha val="100000"/>
            </a:srgbClr>
          </a:solidFill>
          <a:ln w="9984">
            <a:solidFill>
              <a:srgbClr val="16A34A">
                <a:alpha val="100000"/>
              </a:srgbClr>
            </a:solidFill>
            <a:prstDash val="solid"/>
          </a:ln>
        </p:spPr>
      </p:sp>
      <p:sp>
        <p:nvSpPr>
          <p:cNvPr id="33" name="文字 33"/>
          <p:cNvSpPr txBox="1"/>
          <p:nvPr/>
        </p:nvSpPr>
        <p:spPr>
          <a:xfrm>
            <a:off x="6881411" y="4634643"/>
            <a:ext cx="1703177" cy="24176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10" b="1" i="0" u="none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🟢 无影响 —— 关口吸收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6881411" y="4979182"/>
            <a:ext cx="3265377" cy="1892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4" b="0" i="0" u="none">
                <a:solidFill>
                  <a:srgbClr val="14532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工具输出：varchar(20) 可被 cast 关口 VARCHAR2(50) 兼容</a:t>
            </a:r>
            <a:endParaRPr/>
          </a:p>
        </p:txBody>
      </p:sp>
      <p:sp>
        <p:nvSpPr>
          <p:cNvPr id="35" name="形状 35"/>
          <p:cNvSpPr/>
          <p:nvPr/>
        </p:nvSpPr>
        <p:spPr>
          <a:xfrm>
            <a:off x="704620" y="5627772"/>
            <a:ext cx="10782759" cy="467171"/>
          </a:xfrm>
          <a:prstGeom prst="roundRect">
            <a:avLst>
              <a:gd name="adj" fmla="val 14247"/>
            </a:avLst>
          </a:prstGeom>
          <a:solidFill>
            <a:srgbClr val="EEF4FB">
              <a:alpha val="100000"/>
            </a:srgbClr>
          </a:solidFill>
          <a:ln>
            <a:noFill/>
          </a:ln>
        </p:spPr>
      </p:sp>
      <p:sp>
        <p:nvSpPr>
          <p:cNvPr id="36" name="文字 36"/>
          <p:cNvSpPr txBox="1"/>
          <p:nvPr/>
        </p:nvSpPr>
        <p:spPr>
          <a:xfrm>
            <a:off x="2829612" y="5797900"/>
            <a:ext cx="6545476" cy="1997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65" b="0" i="0" u="none">
                <a:solidFill>
                  <a:srgbClr val="1E3A8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同批 5 条命中变更：遍历型方案全部报"受影响"（5 条待人工排查）｜本方案吸收 1 条 + 分级 4 条，均带原因与定位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571500" y="6330950"/>
            <a:ext cx="5640288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7 条字段级变更判定分布：🔴有影响 0 · 🟡待确认 4 · 🟢无影响 1 · ⚪未命中 2（未命中不进主表）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11363821" y="6553200"/>
            <a:ext cx="56147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9 /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10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25325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4.1 · 创新点 / INNOVATIONS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33655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一项核心创新，三个子创新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571500" y="976610"/>
            <a:ext cx="5480050" cy="2324695"/>
          </a:xfrm>
          <a:prstGeom prst="roundRect">
            <a:avLst>
              <a:gd name="adj" fmla="val 382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2563EB">
                <a:alpha val="100000"/>
              </a:srgbClr>
            </a:solidFill>
            <a:prstDash val="solid"/>
          </a:ln>
        </p:spPr>
      </p:sp>
      <p:sp>
        <p:nvSpPr>
          <p:cNvPr id="7" name="文字 7"/>
          <p:cNvSpPr txBox="1"/>
          <p:nvPr/>
        </p:nvSpPr>
        <p:spPr>
          <a:xfrm>
            <a:off x="717550" y="1090910"/>
            <a:ext cx="2798762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1（核心）· 数据资产确定性认知底座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717550" y="133856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主张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717550" y="1522710"/>
            <a:ext cx="347106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多源制品 → 确定性解析 → 守恒契约 → 审核建档 → 多场景消费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717550" y="173603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区别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717550" y="1920180"/>
            <a:ext cx="43561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业界上下文是元数据浅层派生——本方案是制品原文、表达式级、纪律化、档案化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6140450" y="976610"/>
            <a:ext cx="5480050" cy="2324695"/>
          </a:xfrm>
          <a:prstGeom prst="roundRect">
            <a:avLst>
              <a:gd name="adj" fmla="val 382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3" name="文字 13"/>
          <p:cNvSpPr txBox="1"/>
          <p:nvPr/>
        </p:nvSpPr>
        <p:spPr>
          <a:xfrm>
            <a:off x="6286500" y="1090910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2 · 变更影响传播与判定分离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286500" y="133856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主张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6286500" y="1522710"/>
            <a:ext cx="4134842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确定性传播（波及域）与语义判定（类型兼容链 · 关口吸收）解耦，三态输出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6286500" y="173603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区别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286500" y="1920180"/>
            <a:ext cx="18224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遍历型方案只列举下游，无判定层</a:t>
            </a:r>
            <a:endParaRPr/>
          </a:p>
        </p:txBody>
      </p:sp>
      <p:sp>
        <p:nvSpPr>
          <p:cNvPr id="18" name="形状 18"/>
          <p:cNvSpPr/>
          <p:nvPr/>
        </p:nvSpPr>
        <p:spPr>
          <a:xfrm>
            <a:off x="571500" y="3390205"/>
            <a:ext cx="5480050" cy="2324795"/>
          </a:xfrm>
          <a:prstGeom prst="roundRect">
            <a:avLst>
              <a:gd name="adj" fmla="val 382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9" name="文字 19"/>
          <p:cNvSpPr txBox="1"/>
          <p:nvPr/>
        </p:nvSpPr>
        <p:spPr>
          <a:xfrm>
            <a:off x="717550" y="3504505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3 · 制品指纹分拣与错配拦截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717550" y="3752155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主张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717550" y="3936305"/>
            <a:ext cx="324246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结构指纹判型路由 + 四道拦截（格式 / 多义 / 声明 / 串包）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717550" y="4149626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区别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717550" y="4333776"/>
            <a:ext cx="21844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格式嗅探只认物理层，连接器靠人工配置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6140450" y="3390205"/>
            <a:ext cx="5480050" cy="2324795"/>
          </a:xfrm>
          <a:prstGeom prst="roundRect">
            <a:avLst>
              <a:gd name="adj" fmla="val 382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5" name="文字 25"/>
          <p:cNvSpPr txBox="1"/>
          <p:nvPr/>
        </p:nvSpPr>
        <p:spPr>
          <a:xfrm>
            <a:off x="6286500" y="3504505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4 · 逆向产物审核晋级与建档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6286500" y="3752155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主张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6286500" y="3936305"/>
            <a:ext cx="227726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五类确定性对账 + AI 零裁量 + 零残留建档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6286500" y="4149626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区别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6286500" y="4333776"/>
            <a:ext cx="27876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91C1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流水线验证只管签名与数据值，不管表结构这类事实</a:t>
            </a:r>
            <a:endParaRPr/>
          </a:p>
        </p:txBody>
      </p:sp>
      <p:sp>
        <p:nvSpPr>
          <p:cNvPr id="30" name="形状 30"/>
          <p:cNvSpPr/>
          <p:nvPr/>
        </p:nvSpPr>
        <p:spPr>
          <a:xfrm>
            <a:off x="638060" y="5880100"/>
            <a:ext cx="10915880" cy="546100"/>
          </a:xfrm>
          <a:prstGeom prst="roundRect">
            <a:avLst>
              <a:gd name="adj" fmla="val 12188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31" name="文字 31"/>
          <p:cNvSpPr txBox="1"/>
          <p:nvPr/>
        </p:nvSpPr>
        <p:spPr>
          <a:xfrm>
            <a:off x="837741" y="6006148"/>
            <a:ext cx="518558" cy="16287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相互关系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1769584" y="6011545"/>
            <a:ext cx="4629158" cy="1543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创新点 1 是整体能力；2 / 3 / 4 分别落在消费判定、入口分拣、信任建档三个关键截面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837741" y="6227445"/>
            <a:ext cx="3303238" cy="1543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>
                <a:solidFill>
                  <a:srgbClr val="47556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保护路径：三件专利申请分别对应创新点 2 / 3 / 4（见下页）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11272441" y="6553200"/>
            <a:ext cx="65285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10 / 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11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61950"/>
            <a:ext cx="2161778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5.1 · 保护点 / PROTECTION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52450"/>
            <a:ext cx="3644900" cy="393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0">
                <a:solidFill>
                  <a:srgbClr val="1E293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一个整体方案，三件专利申请</a:t>
            </a:r>
            <a:endParaRPr/>
          </a:p>
        </p:txBody>
      </p:sp>
      <p:sp>
        <p:nvSpPr>
          <p:cNvPr id="6" name="形状 6"/>
          <p:cNvSpPr/>
          <p:nvPr/>
        </p:nvSpPr>
        <p:spPr>
          <a:xfrm>
            <a:off x="571500" y="976610"/>
            <a:ext cx="3615234" cy="45478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7" name="形状 7"/>
          <p:cNvSpPr/>
          <p:nvPr/>
        </p:nvSpPr>
        <p:spPr>
          <a:xfrm>
            <a:off x="577850" y="982960"/>
            <a:ext cx="3602534" cy="355600"/>
          </a:xfrm>
          <a:prstGeom prst="rect">
            <a:avLst/>
          </a:prstGeom>
          <a:solidFill>
            <a:srgbClr val="1D4ED8">
              <a:alpha val="100000"/>
            </a:srgbClr>
          </a:solidFill>
          <a:ln>
            <a:noFill/>
          </a:ln>
        </p:spPr>
      </p:sp>
      <p:sp>
        <p:nvSpPr>
          <p:cNvPr id="8" name="文字 8"/>
          <p:cNvSpPr txBox="1"/>
          <p:nvPr/>
        </p:nvSpPr>
        <p:spPr>
          <a:xfrm>
            <a:off x="692150" y="1065510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申请一 · 变更影响判定（创新点 2）</a:t>
            </a:r>
            <a:endParaRPr/>
          </a:p>
        </p:txBody>
      </p:sp>
      <p:sp>
        <p:nvSpPr>
          <p:cNvPr id="9" name="形状 9"/>
          <p:cNvSpPr/>
          <p:nvPr/>
        </p:nvSpPr>
        <p:spPr>
          <a:xfrm>
            <a:off x="3672384" y="1065510"/>
            <a:ext cx="393700" cy="19050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0" name="文字 10"/>
          <p:cNvSpPr txBox="1"/>
          <p:nvPr/>
        </p:nvSpPr>
        <p:spPr>
          <a:xfrm>
            <a:off x="3761284" y="109091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最高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704850" y="144651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独权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704850" y="1675110"/>
            <a:ext cx="223490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映射 → 过滤 → 传播 → 判定 → 三态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704850" y="1944588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核心特征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704850" y="2173188"/>
            <a:ext cx="192395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关口吸收 · 类型归一 · 状态截断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704850" y="2442666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从权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704850" y="2671266"/>
            <a:ext cx="192563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SELECT * 待确认 · 分流 · 定位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704850" y="2940745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实证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704850" y="3169345"/>
            <a:ext cx="98603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cast 双行为实测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704850" y="343882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规避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704850" y="3667423"/>
            <a:ext cx="17462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做判定必经类型语义，绕不开</a:t>
            </a:r>
            <a:endParaRPr/>
          </a:p>
        </p:txBody>
      </p:sp>
      <p:sp>
        <p:nvSpPr>
          <p:cNvPr id="21" name="形状 21"/>
          <p:cNvSpPr/>
          <p:nvPr/>
        </p:nvSpPr>
        <p:spPr>
          <a:xfrm>
            <a:off x="4288334" y="976610"/>
            <a:ext cx="3615234" cy="45478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2" name="形状 22"/>
          <p:cNvSpPr/>
          <p:nvPr/>
        </p:nvSpPr>
        <p:spPr>
          <a:xfrm>
            <a:off x="4294684" y="982960"/>
            <a:ext cx="3602534" cy="355600"/>
          </a:xfrm>
          <a:prstGeom prst="rect">
            <a:avLst/>
          </a:prstGeom>
          <a:solidFill>
            <a:srgbClr val="2563EB">
              <a:alpha val="100000"/>
            </a:srgbClr>
          </a:solidFill>
          <a:ln>
            <a:noFill/>
          </a:ln>
        </p:spPr>
      </p:sp>
      <p:sp>
        <p:nvSpPr>
          <p:cNvPr id="23" name="文字 23"/>
          <p:cNvSpPr txBox="1"/>
          <p:nvPr/>
        </p:nvSpPr>
        <p:spPr>
          <a:xfrm>
            <a:off x="4408984" y="1065510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申请二 · 制品分拣拦截（创新点 3）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7389217" y="1065510"/>
            <a:ext cx="393700" cy="19050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25" name="文字 25"/>
          <p:cNvSpPr txBox="1"/>
          <p:nvPr/>
        </p:nvSpPr>
        <p:spPr>
          <a:xfrm>
            <a:off x="7478117" y="109091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较高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421684" y="144651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独权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421684" y="1675110"/>
            <a:ext cx="223490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判型 → 路由 → 仲裁 → 检测 → 校验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421684" y="1944588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核心特征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421684" y="2173188"/>
            <a:ext cx="192395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指纹规则 · 显式报错 · 缺失披露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421684" y="2442666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从权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421684" y="2671266"/>
            <a:ext cx="205730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判定细则 · 后缀即型 · 特征链集中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421684" y="2940745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实证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421684" y="3169345"/>
            <a:ext cx="80307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分拣实测 7/7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421684" y="343882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规避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421684" y="3667423"/>
            <a:ext cx="16129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消费制品必经分型，绕不开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8005167" y="976610"/>
            <a:ext cx="3615234" cy="4547890"/>
          </a:xfrm>
          <a:prstGeom prst="roundRect">
            <a:avLst>
              <a:gd name="adj" fmla="val 245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37" name="形状 37"/>
          <p:cNvSpPr/>
          <p:nvPr/>
        </p:nvSpPr>
        <p:spPr>
          <a:xfrm>
            <a:off x="8011517" y="982960"/>
            <a:ext cx="3602534" cy="355600"/>
          </a:xfrm>
          <a:prstGeom prst="rect">
            <a:avLst/>
          </a:prstGeom>
          <a:solidFill>
            <a:srgbClr val="3B82F6">
              <a:alpha val="100000"/>
            </a:srgbClr>
          </a:solidFill>
          <a:ln>
            <a:noFill/>
          </a:ln>
        </p:spPr>
      </p:sp>
      <p:sp>
        <p:nvSpPr>
          <p:cNvPr id="38" name="文字 38"/>
          <p:cNvSpPr txBox="1"/>
          <p:nvPr/>
        </p:nvSpPr>
        <p:spPr>
          <a:xfrm>
            <a:off x="8125817" y="1065510"/>
            <a:ext cx="236398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申请三 · 审核晋级建档（创新点 4）</a:t>
            </a:r>
            <a:endParaRPr/>
          </a:p>
        </p:txBody>
      </p:sp>
      <p:sp>
        <p:nvSpPr>
          <p:cNvPr id="39" name="形状 39"/>
          <p:cNvSpPr/>
          <p:nvPr/>
        </p:nvSpPr>
        <p:spPr>
          <a:xfrm>
            <a:off x="11106051" y="1065510"/>
            <a:ext cx="393700" cy="19050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40" name="文字 40"/>
          <p:cNvSpPr txBox="1"/>
          <p:nvPr/>
        </p:nvSpPr>
        <p:spPr>
          <a:xfrm>
            <a:off x="11194951" y="109091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中上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8138517" y="1446510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独权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8138517" y="1675110"/>
            <a:ext cx="214610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对账 → 路由绑定 → 零残留 → 建档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8138517" y="1944588"/>
            <a:ext cx="4191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核心特征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8138517" y="2173188"/>
            <a:ext cx="179060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时序对账 · 结论分级 · 零裁量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8138517" y="2442666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2563E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从权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8138517" y="2671266"/>
            <a:ext cx="192395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台账披露 · 放行留痕 · 留空豁免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8138517" y="2940745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5803D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实证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8138517" y="3169345"/>
            <a:ext cx="81726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拦截实测 4/4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138517" y="3438823"/>
            <a:ext cx="21590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58586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规避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8138517" y="3667423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逆向产物当基线必经审核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638060" y="5689600"/>
            <a:ext cx="2196488" cy="736600"/>
          </a:xfrm>
          <a:prstGeom prst="roundRect">
            <a:avLst>
              <a:gd name="adj" fmla="val 10843"/>
            </a:avLst>
          </a:prstGeom>
          <a:solidFill>
            <a:srgbClr val="1E5BB8">
              <a:alpha val="100000"/>
            </a:srgbClr>
          </a:solidFill>
          <a:ln>
            <a:noFill/>
          </a:ln>
        </p:spPr>
      </p:sp>
      <p:sp>
        <p:nvSpPr>
          <p:cNvPr id="52" name="文字 52"/>
          <p:cNvSpPr txBox="1"/>
          <p:nvPr/>
        </p:nvSpPr>
        <p:spPr>
          <a:xfrm>
            <a:off x="1113670" y="5868352"/>
            <a:ext cx="1257969" cy="1800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整体方案 · 创新点 1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416815" y="6098540"/>
            <a:ext cx="651678" cy="1371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CFE0F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核心能力叙事</a:t>
            </a:r>
            <a:endParaRPr/>
          </a:p>
        </p:txBody>
      </p:sp>
      <p:cxnSp>
        <p:nvCxnSpPr>
          <p:cNvPr id="54" name="直线 54"/>
          <p:cNvCxnSpPr/>
          <p:nvPr/>
        </p:nvCxnSpPr>
        <p:spPr>
          <a:xfrm>
            <a:off x="2834548" y="6057900"/>
            <a:ext cx="412673" cy="0"/>
          </a:xfrm>
          <a:prstGeom prst="line">
            <a:avLst/>
          </a:prstGeom>
          <a:ln w="16640">
            <a:solidFill>
              <a:srgbClr val="1D4ED8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55" name="形状 55"/>
          <p:cNvSpPr/>
          <p:nvPr/>
        </p:nvSpPr>
        <p:spPr>
          <a:xfrm>
            <a:off x="3273846" y="5689600"/>
            <a:ext cx="8280094" cy="736600"/>
          </a:xfrm>
          <a:prstGeom prst="roundRect">
            <a:avLst>
              <a:gd name="adj" fmla="val 10843"/>
            </a:avLst>
          </a:prstGeom>
          <a:solidFill>
            <a:srgbClr val="F1F5F9">
              <a:alpha val="100000"/>
            </a:srgbClr>
          </a:solidFill>
          <a:ln w="6656">
            <a:solidFill>
              <a:srgbClr val="E2E8F0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5704077" y="5855652"/>
            <a:ext cx="3432332" cy="1800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33415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三件申请分别对应创新点 2 / 3 / 4，组合覆盖整体方案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6189184" y="6111240"/>
            <a:ext cx="2462117" cy="1371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4748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策略：判定链避开血缘红海；三件引内部专利成网络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11272441" y="6553200"/>
            <a:ext cx="65285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2563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 xml:space="preserve">11 / 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12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pic>
        <p:nvPicPr>
          <p:cNvPr id="4" name="slide-01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5" name="slide-01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  <p:sp>
        <p:nvSpPr>
          <p:cNvPr id="6" name="文字 6"/>
          <p:cNvSpPr txBox="1"/>
          <p:nvPr/>
        </p:nvSpPr>
        <p:spPr>
          <a:xfrm>
            <a:off x="5937250" y="3213100"/>
            <a:ext cx="3178969" cy="857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pc="48">
                <a:solidFill>
                  <a:srgbClr val="16294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Thank You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969000" y="38481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6294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评审前待办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5969000" y="4151610"/>
            <a:ext cx="2468066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D4A5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① 人工现状梳理基线（人日）——团队提供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5969000" y="4392910"/>
            <a:ext cx="1706066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D4A5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② 内部血缘平台知识粒度确认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5969000" y="4634210"/>
            <a:ext cx="2383234" cy="177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3D4A5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③ 新颖性自查（内刊 / 分享 / 开源情况）</a:t>
            </a:r>
            <a:endParaRPr/>
          </a:p>
        </p:txBody>
      </p:sp>
      <p:pic>
        <p:nvPicPr>
          <p:cNvPr id="11" name="slide-01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478" y="6457950"/>
            <a:ext cx="834033" cy="234950"/>
          </a:xfrm>
          <a:prstGeom prst="rect">
            <a:avLst/>
          </a:prstGeom>
        </p:spPr>
      </p:pic>
      <p:sp>
        <p:nvSpPr>
          <p:cNvPr id="12" name="形状 12"/>
          <p:cNvSpPr/>
          <p:nvPr/>
        </p:nvSpPr>
        <p:spPr>
          <a:xfrm>
            <a:off x="11200011" y="6486525"/>
            <a:ext cx="6350" cy="177800"/>
          </a:xfrm>
          <a:prstGeom prst="rect">
            <a:avLst/>
          </a:prstGeom>
          <a:solidFill>
            <a:srgbClr val="B9C4D4">
              <a:alpha val="100000"/>
            </a:srgbClr>
          </a:solidFill>
          <a:ln>
            <a:noFill/>
          </a:ln>
        </p:spPr>
      </p:sp>
      <p:pic>
        <p:nvPicPr>
          <p:cNvPr id="13" name="slide-01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9861" y="6473825"/>
            <a:ext cx="249039" cy="20320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11582400" y="6477000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100">
                <a:solidFill>
                  <a:srgbClr val="16294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 xml:space="preserve">云山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core.xml><?xml version="1.0" encoding="utf-8"?>
<cp:coreProperties xmlns:cp="http://schemas.openxmlformats.org/package/2006/metadata/core-properties" xmlns:dc="http://purl.org/dc/elements/1.1/">
  <dc:creator>院博</dc:creator>
  <cp:lastModifiedBy>院博</cp:lastModifiedBy>
</cp:coreProperties>
</file>